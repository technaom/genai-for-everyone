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097280"/>
            <a:ext cx="3840480" cy="3840480"/>
          </a:xfrm>
          <a:prstGeom prst="ellipse">
            <a:avLst/>
          </a:prstGeom>
          <a:solidFill>
            <a:srgbClr val="F96167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3291840"/>
            <a:ext cx="3291840" cy="3291840"/>
          </a:xfrm>
          <a:prstGeom prst="ellipse">
            <a:avLst/>
          </a:prstGeom>
          <a:solidFill>
            <a:srgbClr val="F9E795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· SESSION 4.1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“AI Agents”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Actually Means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F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vs. workflow vs. chatbot — and the plan, act, observe loop that makes the difference real.</a:t>
            </a:r>
            <a:endParaRPr lang="en-US" sz="15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416052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“Agent” gets used for almost anything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very different systems, one overused word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40180" y="1874520"/>
            <a:ext cx="731520" cy="731520"/>
          </a:xfrm>
          <a:prstGeom prst="ellipse">
            <a:avLst/>
          </a:prstGeom>
          <a:solidFill>
            <a:srgbClr val="F9E79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4772" y="203911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6974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chatbot with 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383280" y="160020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274820" y="1874520"/>
            <a:ext cx="731520" cy="731520"/>
          </a:xfrm>
          <a:prstGeom prst="ellipse">
            <a:avLst/>
          </a:prstGeom>
          <a:solidFill>
            <a:srgbClr val="F9E795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9412" y="2039112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20440" y="26974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script that calls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API on schedule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17920" y="160020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109460" y="1874520"/>
            <a:ext cx="731520" cy="731520"/>
          </a:xfrm>
          <a:prstGeom prst="ellipse">
            <a:avLst/>
          </a:prstGeom>
          <a:solidFill>
            <a:srgbClr val="F9E795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4052" y="2039112"/>
            <a:ext cx="402336" cy="40233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55080" y="26974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can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calculator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48640" y="3703320"/>
            <a:ext cx="8183880" cy="1051560"/>
          </a:xfrm>
          <a:prstGeom prst="roundRect">
            <a:avLst>
              <a:gd name="adj" fmla="val 6957"/>
            </a:avLst>
          </a:prstGeom>
          <a:solidFill>
            <a:srgbClr val="2F3C7E"/>
          </a:solidFill>
          <a:ln/>
        </p:spPr>
      </p:sp>
      <p:sp>
        <p:nvSpPr>
          <p:cNvPr id="17" name="Text 12"/>
          <p:cNvSpPr/>
          <p:nvPr/>
        </p:nvSpPr>
        <p:spPr>
          <a:xfrm>
            <a:off x="868680" y="3840480"/>
            <a:ext cx="7543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get called “agents.” </a:t>
            </a:r>
            <a:pPr algn="l" indent="0" marL="0">
              <a:buNone/>
            </a:pPr>
            <a:r>
              <a:rPr lang="en-US" sz="1500" dirty="0">
                <a:solidFill>
                  <a:srgbClr val="CF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fix that with a definition precise enough to build from.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definition we'll use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1554480"/>
          </a:xfrm>
          <a:prstGeom prst="roundRect">
            <a:avLst>
              <a:gd name="adj" fmla="val 5882"/>
            </a:avLst>
          </a:prstGeom>
          <a:solidFill>
            <a:srgbClr val="263568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371600"/>
            <a:ext cx="7406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agent is a system where a language model </a:t>
            </a:r>
            <a:pPr indent="0" marL="0">
              <a:lnSpc>
                <a:spcPct val="115000"/>
              </a:lnSpc>
              <a:buNone/>
            </a:pPr>
            <a:r>
              <a:rPr lang="en-US" sz="1800" b="1" i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decides what to do next</a:t>
            </a:r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based on </a:t>
            </a:r>
            <a:pPr indent="0" marL="0">
              <a:lnSpc>
                <a:spcPct val="115000"/>
              </a:lnSpc>
              <a:buNone/>
            </a:pPr>
            <a:r>
              <a:rPr lang="en-US" sz="1800" b="1" i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just happened</a:t>
            </a:r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in order to make progress toward a </a:t>
            </a:r>
            <a:pPr indent="0" marL="0">
              <a:lnSpc>
                <a:spcPct val="115000"/>
              </a:lnSpc>
              <a:buNone/>
            </a:pPr>
            <a:r>
              <a:rPr lang="en-US" sz="1800" b="1" i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</a:t>
            </a:r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repeatedly, without a human choosing each step.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971800"/>
            <a:ext cx="3840480" cy="960120"/>
          </a:xfrm>
          <a:prstGeom prst="roundRect">
            <a:avLst>
              <a:gd name="adj" fmla="val 5714"/>
            </a:avLst>
          </a:prstGeom>
          <a:solidFill>
            <a:srgbClr val="26356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0449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what to do next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35584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 lives in the model's reasoning, not your if-statements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2971800"/>
            <a:ext cx="3840480" cy="960120"/>
          </a:xfrm>
          <a:prstGeom prst="roundRect">
            <a:avLst>
              <a:gd name="adj" fmla="val 5714"/>
            </a:avLst>
          </a:prstGeom>
          <a:solidFill>
            <a:srgbClr val="263568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30449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what just happened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335584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last result before choosing the next action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3840480" cy="960120"/>
          </a:xfrm>
          <a:prstGeom prst="roundRect">
            <a:avLst>
              <a:gd name="adj" fmla="val 5714"/>
            </a:avLst>
          </a:prstGeom>
          <a:solidFill>
            <a:srgbClr val="263568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2336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 a goal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454456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across turns toward an end state, not just one reply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63440" y="4160520"/>
            <a:ext cx="3840480" cy="960120"/>
          </a:xfrm>
          <a:prstGeom prst="roundRect">
            <a:avLst>
              <a:gd name="adj" fmla="val 5714"/>
            </a:avLst>
          </a:prstGeom>
          <a:solidFill>
            <a:srgbClr val="263568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42336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human per step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454456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sequence of decisions is the model's, not typed one at a time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categories, clearly separated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188720"/>
            <a:ext cx="2606040" cy="868680"/>
          </a:xfrm>
          <a:prstGeom prst="rect">
            <a:avLst/>
          </a:prstGeom>
          <a:solidFill>
            <a:srgbClr val="6B6B7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88720"/>
            <a:ext cx="2606040" cy="868680"/>
          </a:xfrm>
          <a:prstGeom prst="roundRect">
            <a:avLst>
              <a:gd name="adj" fmla="val 10526"/>
            </a:avLst>
          </a:prstGeom>
          <a:solidFill>
            <a:srgbClr val="6B6B7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38988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18872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Chatbot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777240" y="228600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Single-turn, reactive.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message in, one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out. No loop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action + observation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a turn.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383280" y="118872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83280" y="1188720"/>
            <a:ext cx="2606040" cy="86868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1" name="Shape 8"/>
          <p:cNvSpPr/>
          <p:nvPr/>
        </p:nvSpPr>
        <p:spPr>
          <a:xfrm>
            <a:off x="3383280" y="1188720"/>
            <a:ext cx="2606040" cy="868680"/>
          </a:xfrm>
          <a:prstGeom prst="roundRect">
            <a:avLst>
              <a:gd name="adj" fmla="val 10526"/>
            </a:avLst>
          </a:prstGeom>
          <a:solidFill>
            <a:srgbClr val="2F3C7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448" y="1389888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160520" y="118872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3611880" y="228600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sequence, may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an LLM at a step.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are decided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programmer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advance.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217920" y="118872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17920" y="1188720"/>
            <a:ext cx="2606040" cy="8686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7" name="Shape 13"/>
          <p:cNvSpPr/>
          <p:nvPr/>
        </p:nvSpPr>
        <p:spPr>
          <a:xfrm>
            <a:off x="6217920" y="1188720"/>
            <a:ext cx="2606040" cy="868680"/>
          </a:xfrm>
          <a:prstGeom prst="roundRect">
            <a:avLst>
              <a:gd name="adj" fmla="val 10526"/>
            </a:avLst>
          </a:prstGeom>
          <a:solidFill>
            <a:srgbClr val="F96167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1389888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995160" y="118872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</a:t>
            </a:r>
            <a:endParaRPr lang="en-US" sz="1900" dirty="0"/>
          </a:p>
        </p:txBody>
      </p:sp>
      <p:sp>
        <p:nvSpPr>
          <p:cNvPr id="20" name="Text 15"/>
          <p:cNvSpPr/>
          <p:nvPr/>
        </p:nvSpPr>
        <p:spPr>
          <a:xfrm>
            <a:off x="6446520" y="228600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decides the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action from real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results. Sequence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chosen at run time,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pre-written.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flowchart test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way to tell if something is genuinely agentic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80467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830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60020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replaced the model's decision points with a human-designed flowchart, would the system behave differently on a case it wasn't specifically planned for?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926080"/>
            <a:ext cx="3886200" cy="1828800"/>
          </a:xfrm>
          <a:prstGeom prst="roundRect">
            <a:avLst>
              <a:gd name="adj" fmla="val 5000"/>
            </a:avLst>
          </a:prstGeom>
          <a:solidFill>
            <a:srgbClr val="F1EFEA"/>
          </a:solidFill>
          <a:ln/>
        </p:spPr>
      </p:sp>
      <p:sp>
        <p:nvSpPr>
          <p:cNvPr id="8" name="Shape 5"/>
          <p:cNvSpPr/>
          <p:nvPr/>
        </p:nvSpPr>
        <p:spPr>
          <a:xfrm>
            <a:off x="777240" y="3154680"/>
            <a:ext cx="411480" cy="411480"/>
          </a:xfrm>
          <a:prstGeom prst="ellipse">
            <a:avLst/>
          </a:prstGeom>
          <a:solidFill>
            <a:srgbClr val="6B6B7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3218688"/>
            <a:ext cx="283464" cy="2834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31272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same either way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77240" y="370332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workflow with an LLM bolted onto one or two steps.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709160" y="2926080"/>
            <a:ext cx="3886200" cy="1828800"/>
          </a:xfrm>
          <a:prstGeom prst="roundRect">
            <a:avLst>
              <a:gd name="adj" fmla="val 5000"/>
            </a:avLst>
          </a:prstGeom>
          <a:solidFill>
            <a:srgbClr val="F96167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315468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486400" y="31272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it reacts differently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4937760" y="370332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genuinely agentic — reacting to something the designer didn't plan for.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plan → act → observe loop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mechanism underneath nearly every real agent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68680" y="1600200"/>
            <a:ext cx="2286000" cy="2286000"/>
          </a:xfrm>
          <a:prstGeom prst="roundRect">
            <a:avLst>
              <a:gd name="adj" fmla="val 4800"/>
            </a:avLst>
          </a:prstGeom>
          <a:solidFill>
            <a:srgbClr val="263568"/>
          </a:solidFill>
          <a:ln/>
        </p:spPr>
      </p:sp>
      <p:sp>
        <p:nvSpPr>
          <p:cNvPr id="5" name="Shape 3"/>
          <p:cNvSpPr/>
          <p:nvPr/>
        </p:nvSpPr>
        <p:spPr>
          <a:xfrm>
            <a:off x="1600200" y="1828800"/>
            <a:ext cx="822960" cy="8229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2224" y="202082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05840" y="31089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about what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F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 next, given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F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so far</a:t>
            </a:r>
            <a:endParaRPr lang="en-US" sz="11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2578608"/>
            <a:ext cx="320040" cy="3200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657600" y="1600200"/>
            <a:ext cx="2286000" cy="2286000"/>
          </a:xfrm>
          <a:prstGeom prst="roundRect">
            <a:avLst>
              <a:gd name="adj" fmla="val 4800"/>
            </a:avLst>
          </a:prstGeom>
          <a:solidFill>
            <a:srgbClr val="263568"/>
          </a:solidFill>
          <a:ln/>
        </p:spPr>
      </p:sp>
      <p:sp>
        <p:nvSpPr>
          <p:cNvPr id="11" name="Shape 7"/>
          <p:cNvSpPr/>
          <p:nvPr/>
        </p:nvSpPr>
        <p:spPr>
          <a:xfrm>
            <a:off x="4389120" y="1828800"/>
            <a:ext cx="822960" cy="8229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144" y="2020824"/>
            <a:ext cx="438912" cy="4389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657600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3794760" y="31089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a specific tool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F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specific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F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 — it runs</a:t>
            </a:r>
            <a:endParaRPr lang="en-US" sz="11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2578608"/>
            <a:ext cx="320040" cy="32004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446520" y="1600200"/>
            <a:ext cx="2286000" cy="2286000"/>
          </a:xfrm>
          <a:prstGeom prst="roundRect">
            <a:avLst>
              <a:gd name="adj" fmla="val 4800"/>
            </a:avLst>
          </a:prstGeom>
          <a:solidFill>
            <a:srgbClr val="263568"/>
          </a:solidFill>
          <a:ln/>
        </p:spPr>
      </p:sp>
      <p:sp>
        <p:nvSpPr>
          <p:cNvPr id="17" name="Shape 11"/>
          <p:cNvSpPr/>
          <p:nvPr/>
        </p:nvSpPr>
        <p:spPr>
          <a:xfrm>
            <a:off x="7178040" y="1828800"/>
            <a:ext cx="822960" cy="8229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0064" y="2020824"/>
            <a:ext cx="438912" cy="43891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446520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OBSERVE</a:t>
            </a:r>
            <a:endParaRPr lang="en-US" sz="1700" dirty="0"/>
          </a:p>
        </p:txBody>
      </p:sp>
      <p:sp>
        <p:nvSpPr>
          <p:cNvPr id="20" name="Text 13"/>
          <p:cNvSpPr/>
          <p:nvPr/>
        </p:nvSpPr>
        <p:spPr>
          <a:xfrm>
            <a:off x="6583680" y="31089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result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F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comes back as new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F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548640" y="4206240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1D2A57"/>
          </a:solidFill>
          <a:ln/>
        </p:spPr>
      </p:sp>
      <p:sp>
        <p:nvSpPr>
          <p:cNvPr id="22" name="Text 15"/>
          <p:cNvSpPr/>
          <p:nvPr/>
        </p:nvSpPr>
        <p:spPr>
          <a:xfrm>
            <a:off x="777240" y="42062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it repeats — until the goal is met or a stopping condition is hit. (More on that in Session 4.3.)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trace — both tools actually run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“3 umbrellas at $14.50 each, and will I need one tomorrow in Chicago?”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80467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609344"/>
            <a:ext cx="457200" cy="457200"/>
          </a:xfrm>
          <a:prstGeom prst="ellipse">
            <a:avLst/>
          </a:prstGeom>
          <a:solidFill>
            <a:srgbClr val="F9E79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1728216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50876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2926080" y="1508760"/>
            <a:ext cx="5532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sub-questions — needs calculator + weather tool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286000"/>
            <a:ext cx="80467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13232" y="2386584"/>
            <a:ext cx="457200" cy="457200"/>
          </a:xfrm>
          <a:prstGeom prst="ellipse">
            <a:avLst/>
          </a:prstGeom>
          <a:solidFill>
            <a:srgbClr val="F9E79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" y="2505456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228600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→ OBSERVE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2926080" y="2286000"/>
            <a:ext cx="5532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calculator("3 * 14.50")  →  43.5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063240"/>
            <a:ext cx="80467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3232" y="3163824"/>
            <a:ext cx="457200" cy="457200"/>
          </a:xfrm>
          <a:prstGeom prst="ellipse">
            <a:avLst/>
          </a:prstGeom>
          <a:solidFill>
            <a:srgbClr val="F9E79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3282696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306324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→ OBSERVE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2926080" y="3063240"/>
            <a:ext cx="5532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weather_lookup("Chicago")  →  rain, 80% chance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3840480"/>
            <a:ext cx="80467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13232" y="3941064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" y="4059936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384048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ANSWER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2926080" y="3840480"/>
            <a:ext cx="5532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$43.50 total — yes, bring an umbrella (80% rain)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numbers in the final answer trace directly to real tool output — nothing invented.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difference actually shows up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task, a city with NO weather data — verified by actually running both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88620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17320"/>
            <a:ext cx="3886200" cy="594360"/>
          </a:xfrm>
          <a:prstGeom prst="roundRect">
            <a:avLst>
              <a:gd name="adj" fmla="val 15385"/>
            </a:avLst>
          </a:prstGeom>
          <a:solidFill>
            <a:srgbClr val="6B6B7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41732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 WORKFLOW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3429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weather_lookup("Miami")
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{"error": "No data"}
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reads weather["chance_of_rain_pct"] — no check first.
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77240" y="3840480"/>
            <a:ext cx="3429000" cy="548640"/>
          </a:xfrm>
          <a:prstGeom prst="roundRect">
            <a:avLst>
              <a:gd name="adj" fmla="val 10000"/>
            </a:avLst>
          </a:prstGeom>
          <a:solidFill>
            <a:srgbClr val="F1EFEA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3959352"/>
            <a:ext cx="292608" cy="292608"/>
          </a:xfrm>
          <a:prstGeom prst="ellipse">
            <a:avLst/>
          </a:prstGeom>
          <a:solidFill>
            <a:srgbClr val="6B6B7A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4009644"/>
            <a:ext cx="192024" cy="19202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25880" y="38404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CRASHES: KeyError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709160" y="1417320"/>
            <a:ext cx="388620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09160" y="1417320"/>
            <a:ext cx="3886200" cy="594360"/>
          </a:xfrm>
          <a:prstGeom prst="roundRect">
            <a:avLst>
              <a:gd name="adj" fmla="val 15385"/>
            </a:avLst>
          </a:prstGeom>
          <a:solidFill>
            <a:srgbClr val="F96167"/>
          </a:solidFill>
          <a:ln/>
        </p:spPr>
      </p:sp>
      <p:sp>
        <p:nvSpPr>
          <p:cNvPr id="14" name="Text 11"/>
          <p:cNvSpPr/>
          <p:nvPr/>
        </p:nvSpPr>
        <p:spPr>
          <a:xfrm>
            <a:off x="4937760" y="141732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AGENT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937760" y="2194560"/>
            <a:ext cx="3429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weather_lookup("Miami")
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{"error": "No data"}
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 observation FIRST — sees the error key, re-plans.
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937760" y="3840480"/>
            <a:ext cx="3429000" cy="548640"/>
          </a:xfrm>
          <a:prstGeom prst="roundRect">
            <a:avLst>
              <a:gd name="adj" fmla="val 10000"/>
            </a:avLst>
          </a:prstGeom>
          <a:solidFill>
            <a:srgbClr val="FCE9DD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3959352"/>
            <a:ext cx="292608" cy="29260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486400" y="38404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3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RECOVERS: honest answer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Flexibility has a cost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840480" cy="2286000"/>
          </a:xfrm>
          <a:prstGeom prst="roundRect">
            <a:avLst>
              <a:gd name="adj" fmla="val 4000"/>
            </a:avLst>
          </a:prstGeom>
          <a:solidFill>
            <a:srgbClr val="26356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544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22960" y="21945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F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 &amp; faster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63347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F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path testable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307238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F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Predictable, but rigid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754880" y="1280160"/>
            <a:ext cx="3840480" cy="2286000"/>
          </a:xfrm>
          <a:prstGeom prst="roundRect">
            <a:avLst>
              <a:gd name="adj" fmla="val 4000"/>
            </a:avLst>
          </a:prstGeom>
          <a:solidFill>
            <a:srgbClr val="263568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55448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23560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5029200" y="21945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F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Flexible, can react live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029200" y="263347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F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predictable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029200" y="307238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F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failure modes (loops, wrong calls)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3749040"/>
            <a:ext cx="8046720" cy="1051560"/>
          </a:xfrm>
          <a:prstGeom prst="roundRect">
            <a:avLst>
              <a:gd name="adj" fmla="val 8696"/>
            </a:avLst>
          </a:prstGeom>
          <a:solidFill>
            <a:srgbClr val="F96167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868680" y="3749040"/>
            <a:ext cx="7406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production systems: </a:t>
            </a:r>
            <a:pPr indent="0" marL="0">
              <a:lnSpc>
                <a:spcPct val="110000"/>
              </a:lnSpc>
              <a:buNone/>
            </a:pPr>
            <a:r>
              <a:rPr lang="en-US" sz="1600" b="1" i="1" dirty="0">
                <a:solidFill>
                  <a:srgbClr val="FFF3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mostly workflow</a:t>
            </a:r>
            <a:pPr indent="0" marL="0">
              <a:lnSpc>
                <a:spcPct val="110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with a small, carefully-scoped agentic piece where real flexibility earns its cost.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0876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132588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have a precise, testable definition of an agent — four concrete properties, not vibes.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743200"/>
            <a:ext cx="8046720" cy="1554480"/>
          </a:xfrm>
          <a:prstGeom prst="roundRect">
            <a:avLst>
              <a:gd name="adj" fmla="val 5882"/>
            </a:avLst>
          </a:prstGeom>
          <a:solidFill>
            <a:srgbClr val="2F3C7E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063240"/>
            <a:ext cx="502920" cy="502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54480" y="2926080"/>
            <a:ext cx="6766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4.2 — Function / Tool Calling
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F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build the machinery that makes the “Act” phase possible: defining tools with schemas the model can call correctly, with a real calculator and weather tool.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4.1 — What AI Agents Actually Means</dc:title>
  <dc:subject>PptxGenJS Presentation</dc:subject>
  <dc:creator>GenAI for Everyone</dc:creator>
  <cp:lastModifiedBy>GenAI for Everyone</cp:lastModifiedBy>
  <cp:revision>1</cp:revision>
  <dcterms:created xsi:type="dcterms:W3CDTF">2026-06-28T08:43:04Z</dcterms:created>
  <dcterms:modified xsi:type="dcterms:W3CDTF">2026-06-28T08:43:04Z</dcterms:modified>
</cp:coreProperties>
</file>