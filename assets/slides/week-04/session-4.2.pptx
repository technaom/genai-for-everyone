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389120" cy="4389120"/>
          </a:xfrm>
          <a:prstGeom prst="ellipse">
            <a:avLst/>
          </a:prstGeom>
          <a:solidFill>
            <a:srgbClr val="3B4856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663440"/>
            <a:ext cx="2560320" cy="2560320"/>
          </a:xfrm>
          <a:prstGeom prst="ellipse">
            <a:avLst/>
          </a:prstGeom>
          <a:solidFill>
            <a:srgbClr val="2C5F9E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5C8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SESSION 4.2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/ Tool Calling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2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tools, schema design, and when models actually call them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777240" cy="777240"/>
          </a:xfrm>
          <a:prstGeom prst="ellipse">
            <a:avLst/>
          </a:prstGeom>
          <a:solidFill>
            <a:srgbClr val="3B4856"/>
          </a:solidFill>
          <a:ln/>
        </p:spPr>
      </p:sp>
      <p:pic>
        <p:nvPicPr>
          <p:cNvPr id="8" name="Image 0" descr="/home/claude/deck-build-42/icons/tool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4034790"/>
            <a:ext cx="388620" cy="3886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384048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the "act" step of the agent loop, for the first time, for real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— Function/Tool Calling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calling does not let the model run code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EEF1F5"/>
          </a:solidFill>
          <a:ln/>
          <a:effectLst>
            <a:outerShdw sx="100000" sy="100000" kx="0" ky="0" algn="bl" rotWithShape="0" blurRad="101600" dist="38100" dir="2700000">
              <a:srgbClr val="121519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737360"/>
            <a:ext cx="548640" cy="548640"/>
          </a:xfrm>
          <a:prstGeom prst="ellipse">
            <a:avLst/>
          </a:prstGeom>
          <a:solidFill>
            <a:srgbClr val="B23B3B"/>
          </a:solidFill>
          <a:ln/>
        </p:spPr>
      </p:sp>
      <p:pic>
        <p:nvPicPr>
          <p:cNvPr id="5" name="Image 0" descr="/home/claude/deck-build-42/icons/tim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186080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373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ISN'T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46888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executing a function directly.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no hands, no execution environment, no permissions of any kind. It cannot reach out and run anything on its own.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63640" y="141732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2C5F9E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1737360"/>
            <a:ext cx="548640" cy="548640"/>
          </a:xfrm>
          <a:prstGeom prst="ellipse">
            <a:avLst/>
          </a:prstGeom>
          <a:solidFill>
            <a:srgbClr val="1E4470"/>
          </a:solidFill>
          <a:ln/>
        </p:spPr>
      </p:sp>
      <p:pic>
        <p:nvPicPr>
          <p:cNvPr id="10" name="Image 1" descr="/home/claude/deck-build-42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404" y="186080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17373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actually IS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37960" y="2468880"/>
            <a:ext cx="4709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way to say "I want you to run this specific function, with these arguments."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is entirely responsible for actually running it and reporting back what happened.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— Function/Tool Calling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3B4856"/>
          </a:solidFill>
          <a:ln/>
        </p:spPr>
      </p:sp>
      <p:pic>
        <p:nvPicPr>
          <p:cNvPr id="3" name="Image 0" descr="/home/claude/deck-build-42/icons/lis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every tool needs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3502152" cy="411480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21519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979676" y="1920240"/>
            <a:ext cx="822960" cy="822960"/>
          </a:xfrm>
          <a:prstGeom prst="ellipse">
            <a:avLst/>
          </a:prstGeom>
          <a:solidFill>
            <a:srgbClr val="2C5F9E"/>
          </a:solidFill>
          <a:ln/>
        </p:spPr>
      </p:sp>
      <p:pic>
        <p:nvPicPr>
          <p:cNvPr id="7" name="Image 1" descr="/home/claude/deck-build-42/icons/ta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842" y="2105406"/>
            <a:ext cx="452628" cy="4526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297180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14400" y="3520440"/>
            <a:ext cx="295351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specific, unambiguous. "get_weather", not "helper2".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306824" y="1554480"/>
            <a:ext cx="3502152" cy="411480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21519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46420" y="1920240"/>
            <a:ext cx="822960" cy="822960"/>
          </a:xfrm>
          <a:prstGeom prst="ellipse">
            <a:avLst/>
          </a:prstGeom>
          <a:solidFill>
            <a:srgbClr val="2C5F9E"/>
          </a:solidFill>
          <a:ln/>
        </p:spPr>
      </p:sp>
      <p:pic>
        <p:nvPicPr>
          <p:cNvPr id="12" name="Image 2" descr="/home/claude/deck-build-42/icons/fi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586" y="2105406"/>
            <a:ext cx="452628" cy="4526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89704" y="297180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4581144" y="3520440"/>
            <a:ext cx="295351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AND when to use it — this is a prompt the model reads to decide.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973568" y="1554480"/>
            <a:ext cx="3502152" cy="411480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21519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313164" y="1920240"/>
            <a:ext cx="822960" cy="822960"/>
          </a:xfrm>
          <a:prstGeom prst="ellipse">
            <a:avLst/>
          </a:prstGeom>
          <a:solidFill>
            <a:srgbClr val="2C5F9E"/>
          </a:solidFill>
          <a:ln/>
        </p:spPr>
      </p:sp>
      <p:pic>
        <p:nvPicPr>
          <p:cNvPr id="17" name="Image 3" descr="/home/claude/deck-build-42/icons/cog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8330" y="2105406"/>
            <a:ext cx="452628" cy="4526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156448" y="297180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schema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8247888" y="3520440"/>
            <a:ext cx="295351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Precise, machine-readable spec of exactly what arguments it needs.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C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→ what to call it. Description → when and why. Schema → exactly how.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— Function/Tool Calling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round trip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3B485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132588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2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the model a message + a list of tool definitions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3B485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10312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2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decides: does this need a tool? Which one? What arguments?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3B485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88036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2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comes back as a structured tool_use block, not plain text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2C5F9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365760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DC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— not the model — actually runs the real function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solidFill>
            <a:srgbClr val="3B485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443484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2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the tool's real output back, tagged to match the call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5257800"/>
            <a:ext cx="502920" cy="502920"/>
          </a:xfrm>
          <a:prstGeom prst="ellipse">
            <a:avLst/>
          </a:prstGeom>
          <a:solidFill>
            <a:srgbClr val="3B485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257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5880" y="521208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2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reads the result and continues, or gives a final answer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— Function/Tool Calling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3B4856"/>
          </a:solidFill>
          <a:ln/>
        </p:spPr>
      </p:sp>
      <p:pic>
        <p:nvPicPr>
          <p:cNvPr id="3" name="Image 0" descr="/home/claude/deck-build-42/icons/exchan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structural rule that trips people up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EEF1F5"/>
          </a:solidFill>
          <a:ln/>
          <a:effectLst>
            <a:outerShdw sx="100000" sy="100000" kx="0" ky="0" algn="bl" rotWithShape="0" blurRad="101600" dist="38100" dir="2700000">
              <a:srgbClr val="121519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55448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result message must come immediately after the tool call message. Nothing can be inserted between an assistant's tool-use request and your reply with the result.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371600" y="3566160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2C5F9E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35661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Assistant: tool_use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0" y="3703320"/>
            <a:ext cx="548640" cy="548640"/>
          </a:xfrm>
          <a:prstGeom prst="ellipse">
            <a:avLst/>
          </a:prstGeom>
          <a:solidFill>
            <a:srgbClr val="3B4856"/>
          </a:solidFill>
          <a:ln/>
        </p:spPr>
      </p:sp>
      <p:pic>
        <p:nvPicPr>
          <p:cNvPr id="10" name="Image 1" descr="/home/claude/deck-build-42/icons/arrow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9844" y="3826764"/>
            <a:ext cx="301752" cy="30175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00800" y="3566160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2E7D5B"/>
          </a:solidFill>
          <a:ln/>
        </p:spPr>
      </p:sp>
      <p:sp>
        <p:nvSpPr>
          <p:cNvPr id="12" name="Text 8"/>
          <p:cNvSpPr/>
          <p:nvPr/>
        </p:nvSpPr>
        <p:spPr>
          <a:xfrm>
            <a:off x="6400800" y="35661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tool_result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371600" y="45262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directly follow — nothing in between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40080" y="5212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reads the conversation sequentially, like everything else it processes — without that adjacency, it has no reliable way to connect a result back to its request.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— Function/Tool Calling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3B4856"/>
          </a:solidFill>
          <a:ln/>
        </p:spPr>
      </p:sp>
      <p:pic>
        <p:nvPicPr>
          <p:cNvPr id="3" name="Image 0" descr="/home/claude/deck-build-42/icons/ques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does a model actually decide to call a tool?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232B33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55448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next-token-prediction process behind everything else the model generates — just with "call this tool" as one more valid kind of output, alongside ordinary text.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3566160"/>
            <a:ext cx="10881360" cy="2194560"/>
          </a:xfrm>
          <a:prstGeom prst="roundRect">
            <a:avLst>
              <a:gd name="adj" fmla="val 3333"/>
            </a:avLst>
          </a:prstGeom>
          <a:solidFill>
            <a:srgbClr val="2C5F9E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56616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consequence: if a model isn't calling your tool when expected — or calls it when it shouldn't — the fix lives in the same place a bad-prompt fix lives.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the description. Tighten the schema. This is Week 2's prompt-engineering work, applied to a tool definition.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— Function/Tool Calling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3B4856"/>
          </a:solidFill>
          <a:ln/>
        </p:spPr>
      </p:sp>
      <p:pic>
        <p:nvPicPr>
          <p:cNvPr id="3" name="Image 0" descr="/home/claude/deck-build-42/icons/plu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Plan, act, observe — now all genuinely real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3502152" cy="4023360"/>
          </a:xfrm>
          <a:prstGeom prst="roundRect">
            <a:avLst>
              <a:gd name="adj" fmla="val 2089"/>
            </a:avLst>
          </a:prstGeom>
          <a:solidFill>
            <a:srgbClr val="EEF1F5"/>
          </a:solidFill>
          <a:ln/>
          <a:effectLst>
            <a:outerShdw sx="100000" sy="100000" kx="0" ky="0" algn="bl" rotWithShape="0" blurRad="101600" dist="38100" dir="2700000">
              <a:srgbClr val="121519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1828800"/>
            <a:ext cx="3044952" cy="502920"/>
          </a:xfrm>
          <a:prstGeom prst="roundRect">
            <a:avLst>
              <a:gd name="adj" fmla="val 49091"/>
            </a:avLst>
          </a:prstGeom>
          <a:solidFill>
            <a:srgbClr val="3B4856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82880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560320"/>
            <a:ext cx="30449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4.1: Scripted by a human in 4.1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005840" y="3429000"/>
            <a:ext cx="2770632" cy="18288"/>
          </a:xfrm>
          <a:prstGeom prst="rect">
            <a:avLst/>
          </a:prstGeom>
          <a:solidFill>
            <a:srgbClr val="C7CDD3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566160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C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4.2: The model genuinely decides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06824" y="1554480"/>
            <a:ext cx="3502152" cy="4023360"/>
          </a:xfrm>
          <a:prstGeom prst="roundRect">
            <a:avLst>
              <a:gd name="adj" fmla="val 2089"/>
            </a:avLst>
          </a:prstGeom>
          <a:solidFill>
            <a:srgbClr val="EEF1F5"/>
          </a:solidFill>
          <a:ln/>
          <a:effectLst>
            <a:outerShdw sx="100000" sy="100000" kx="0" ky="0" algn="bl" rotWithShape="0" blurRad="101600" dist="38100" dir="2700000">
              <a:srgbClr val="121519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35424" y="1828800"/>
            <a:ext cx="3044952" cy="502920"/>
          </a:xfrm>
          <a:prstGeom prst="roundRect">
            <a:avLst>
              <a:gd name="adj" fmla="val 49091"/>
            </a:avLst>
          </a:prstGeom>
          <a:solidFill>
            <a:srgbClr val="3B4856"/>
          </a:solidFill>
          <a:ln/>
        </p:spPr>
      </p:sp>
      <p:sp>
        <p:nvSpPr>
          <p:cNvPr id="13" name="Text 10"/>
          <p:cNvSpPr/>
          <p:nvPr/>
        </p:nvSpPr>
        <p:spPr>
          <a:xfrm>
            <a:off x="4535424" y="182880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35424" y="2560320"/>
            <a:ext cx="30449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4.1: Real tools, fake trigger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672584" y="3429000"/>
            <a:ext cx="2770632" cy="18288"/>
          </a:xfrm>
          <a:prstGeom prst="rect">
            <a:avLst/>
          </a:prstGeom>
          <a:solidFill>
            <a:srgbClr val="C7CDD3"/>
          </a:solidFill>
          <a:ln/>
        </p:spPr>
      </p:sp>
      <p:sp>
        <p:nvSpPr>
          <p:cNvPr id="16" name="Text 13"/>
          <p:cNvSpPr/>
          <p:nvPr/>
        </p:nvSpPr>
        <p:spPr>
          <a:xfrm>
            <a:off x="4535424" y="3566160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C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4.2: Real tools, real trigger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973568" y="1554480"/>
            <a:ext cx="3502152" cy="4023360"/>
          </a:xfrm>
          <a:prstGeom prst="roundRect">
            <a:avLst>
              <a:gd name="adj" fmla="val 2089"/>
            </a:avLst>
          </a:prstGeom>
          <a:solidFill>
            <a:srgbClr val="EEF1F5"/>
          </a:solidFill>
          <a:ln/>
          <a:effectLst>
            <a:outerShdw sx="100000" sy="100000" kx="0" ky="0" algn="bl" rotWithShape="0" blurRad="101600" dist="38100" dir="2700000">
              <a:srgbClr val="121519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02168" y="1828800"/>
            <a:ext cx="3044952" cy="502920"/>
          </a:xfrm>
          <a:prstGeom prst="roundRect">
            <a:avLst>
              <a:gd name="adj" fmla="val 49091"/>
            </a:avLst>
          </a:prstGeom>
          <a:solidFill>
            <a:srgbClr val="3B4856"/>
          </a:solidFill>
          <a:ln/>
        </p:spPr>
      </p:sp>
      <p:sp>
        <p:nvSpPr>
          <p:cNvPr id="19" name="Text 16"/>
          <p:cNvSpPr/>
          <p:nvPr/>
        </p:nvSpPr>
        <p:spPr>
          <a:xfrm>
            <a:off x="8202168" y="182880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202168" y="2560320"/>
            <a:ext cx="30449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4.1: Hand-authored result feed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339328" y="3429000"/>
            <a:ext cx="2770632" cy="18288"/>
          </a:xfrm>
          <a:prstGeom prst="rect">
            <a:avLst/>
          </a:prstGeom>
          <a:solidFill>
            <a:srgbClr val="C7CDD3"/>
          </a:solidFill>
          <a:ln/>
        </p:spPr>
      </p:sp>
      <p:sp>
        <p:nvSpPr>
          <p:cNvPr id="22" name="Text 19"/>
          <p:cNvSpPr/>
          <p:nvPr/>
        </p:nvSpPr>
        <p:spPr>
          <a:xfrm>
            <a:off x="8202168" y="3566160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C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4.2: Real tool output, fed back live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— Function/Tool Calling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3B4856"/>
          </a:solidFill>
          <a:ln/>
        </p:spPr>
      </p:sp>
      <p:pic>
        <p:nvPicPr>
          <p:cNvPr id="3" name="Image 0" descr="/home/claude/deck-build-42/icons/tool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artifact: real tools, real model, real loop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BF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calculator and weather_lookup functions from 4.1 — now wired to a live LLM.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5257800" cy="2560320"/>
          </a:xfrm>
          <a:prstGeom prst="roundRect">
            <a:avLst>
              <a:gd name="adj" fmla="val 2857"/>
            </a:avLst>
          </a:prstGeom>
          <a:solidFill>
            <a:srgbClr val="3B4856"/>
          </a:solidFill>
          <a:ln/>
          <a:effectLst>
            <a:outerShdw sx="100000" sy="100000" kx="0" ky="0" algn="bl" rotWithShape="0" blurRad="101600" dist="38100" dir="2700000">
              <a:srgbClr val="121519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0120" y="2286000"/>
            <a:ext cx="640080" cy="640080"/>
          </a:xfrm>
          <a:prstGeom prst="ellipse">
            <a:avLst/>
          </a:prstGeom>
          <a:solidFill>
            <a:srgbClr val="2C5F9E"/>
          </a:solidFill>
          <a:ln/>
        </p:spPr>
      </p:sp>
      <p:pic>
        <p:nvPicPr>
          <p:cNvPr id="8" name="Image 1" descr="/home/claude/deck-build-42/icons/calc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138" y="2430018"/>
            <a:ext cx="352044" cy="3520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233172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960120" y="310896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2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arithmetic. "3 umbrellas at $14.50 each" → real total.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062472" y="1965960"/>
            <a:ext cx="5257800" cy="2560320"/>
          </a:xfrm>
          <a:prstGeom prst="roundRect">
            <a:avLst>
              <a:gd name="adj" fmla="val 2857"/>
            </a:avLst>
          </a:prstGeom>
          <a:solidFill>
            <a:srgbClr val="3B4856"/>
          </a:solidFill>
          <a:ln/>
          <a:effectLst>
            <a:outerShdw sx="100000" sy="100000" kx="0" ky="0" algn="bl" rotWithShape="0" blurRad="101600" dist="38100" dir="2700000">
              <a:srgbClr val="121519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382512" y="2286000"/>
            <a:ext cx="640080" cy="640080"/>
          </a:xfrm>
          <a:prstGeom prst="ellipse">
            <a:avLst/>
          </a:prstGeom>
          <a:solidFill>
            <a:srgbClr val="2C5F9E"/>
          </a:solidFill>
          <a:ln/>
        </p:spPr>
      </p:sp>
      <p:pic>
        <p:nvPicPr>
          <p:cNvPr id="13" name="Image 2" descr="/home/claude/deck-build-42/icons/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530" y="2430018"/>
            <a:ext cx="352044" cy="3520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05472" y="233172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weather_lookup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382512" y="310896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2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lookup table. Returns an honest error for unknown cities.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484632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2C5F9E"/>
          </a:solidFill>
          <a:ln/>
        </p:spPr>
      </p:sp>
      <p:sp>
        <p:nvSpPr>
          <p:cNvPr id="17" name="Text 12"/>
          <p:cNvSpPr/>
          <p:nvPr/>
        </p:nvSpPr>
        <p:spPr>
          <a:xfrm>
            <a:off x="914400" y="48463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included: a city not in the database. Watch whether the model reports honestly — or guesses.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— Function/Tool Calling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tool call. Now: a whole task.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loop ends after one or two tool calls. Real tasks need planning across several steps.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3200400"/>
          </a:xfrm>
          <a:prstGeom prst="roundRect">
            <a:avLst>
              <a:gd name="adj" fmla="val 2286"/>
            </a:avLst>
          </a:prstGeom>
          <a:solidFill>
            <a:srgbClr val="EEF1F5"/>
          </a:solidFill>
          <a:ln/>
          <a:effectLst>
            <a:outerShdw sx="100000" sy="100000" kx="0" ky="0" algn="bl" rotWithShape="0" blurRad="101600" dist="38100" dir="2700000">
              <a:srgbClr val="12151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94360" cy="594360"/>
          </a:xfrm>
          <a:prstGeom prst="ellipse">
            <a:avLst/>
          </a:prstGeom>
          <a:solidFill>
            <a:srgbClr val="2C5F9E"/>
          </a:solidFill>
          <a:ln/>
        </p:spPr>
      </p:sp>
      <p:pic>
        <p:nvPicPr>
          <p:cNvPr id="6" name="Image 0" descr="/home/claude/deck-build-42/icons/arrow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131" y="232829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9456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4.3 — Multi-Step Task Agents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29718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across sub-tasks, deciding when there's actually enough information to stop, and a genuinely multi-step research task end to end.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2062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artifact: an agent that completes a 3-step research task.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194560" y="5486400"/>
            <a:ext cx="7772400" cy="777240"/>
          </a:xfrm>
          <a:prstGeom prst="roundRect">
            <a:avLst>
              <a:gd name="adj" fmla="val 11765"/>
            </a:avLst>
          </a:prstGeom>
          <a:solidFill>
            <a:srgbClr val="2C5F9E">
              <a:alpha val="1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194560" y="54864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Quiz, then Session 4.3: Multi-Step Task Agents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4.2 — Function/Tool Calling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4.2 — Function/Tool Calling</dc:title>
  <dc:subject>PptxGenJS Presentation</dc:subject>
  <dc:creator>GenAI for Everyone</dc:creator>
  <cp:lastModifiedBy>GenAI for Everyone</cp:lastModifiedBy>
  <cp:revision>1</cp:revision>
  <dcterms:created xsi:type="dcterms:W3CDTF">2026-06-28T10:00:37Z</dcterms:created>
  <dcterms:modified xsi:type="dcterms:W3CDTF">2026-06-28T10:00:37Z</dcterms:modified>
</cp:coreProperties>
</file>