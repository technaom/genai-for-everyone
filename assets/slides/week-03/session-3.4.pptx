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image" Target="../media/image-8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389120" cy="4389120"/>
          </a:xfrm>
          <a:prstGeom prst="ellipse">
            <a:avLst/>
          </a:prstGeom>
          <a:solidFill>
            <a:srgbClr val="1F4F3D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663440"/>
            <a:ext cx="2560320" cy="2560320"/>
          </a:xfrm>
          <a:prstGeom prst="ellipse">
            <a:avLst/>
          </a:prstGeom>
          <a:solidFill>
            <a:srgbClr val="B98B2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A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3.4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RAG Pipeline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7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→ augmentation → generation, end to end, with citation grounding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777240" cy="77724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8" name="Image 0" descr="/home/claude/deck-build-34/icons/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403479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384048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5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your retrieval system finally speaks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— Building a RAG Pipeline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assistant who never speaks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F2F0E8"/>
          </a:solidFill>
          <a:ln/>
          <a:effectLst>
            <a:outerShdw sx="100000" sy="100000" kx="0" ky="0" algn="bl" rotWithShape="0" blurRad="101600" dist="38100" dir="2700000">
              <a:srgbClr val="0D1F1A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1732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brilliant research assistant a question. Watch them correctly pull the three most relevant pages out of a filing cabinet, lay them neatly on your desk... and just stand there.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F4F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where Session 3.3 left you. Real, useful retrieval work — but still no answer. Today, the assistant finally speaks.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— Building a RAG Pipeline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85800" cy="68580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3" name="Image 0" descr="/home/claude/deck-build-34/icons/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61150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grounded RAG prompt, dissected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32588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12302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463040"/>
            <a:ext cx="10332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using ONLY the information in the provided context.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context lacks enough information, say so explicitly.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{retrieved chunk 1}    [2] {retrieved chunk 2}    [3] {retrieved chunk 3}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{user's question}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 which numbered chunk(s) support each part of your answer.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38862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D1F1A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3886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"ONLY the information"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0" y="388620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grounding — without this, the model is free to ignore retrieval entirely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8006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D1F1A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4800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Numbered chunks [1][2][3]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0" y="480060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text into addressable units — citation is impossible without this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D1F1A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4400" y="57150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"cite which chunk(s)"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571500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grounding checkable instead of invisible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— Building a RAG Pipeline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3" name="Image 0" descr="/home/claude/deck-build-34/icons/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Citations: invisible failure → checkable failure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2A5E49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B23B3B"/>
          </a:solidFill>
          <a:ln/>
        </p:spPr>
      </p:sp>
      <p:pic>
        <p:nvPicPr>
          <p:cNvPr id="7" name="Image 1" descr="/home/claude/deck-build-34/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190652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783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citations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25146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7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faithfully-grounded answer and a quietly-ignored-the-context answer produce the exact same thing: a fluent paragraph.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7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difference between "it worked" and "it silently bypassed its own safeguards."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63640" y="150876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B98B2E"/>
          </a:solidFill>
          <a:ln/>
        </p:spPr>
      </p:sp>
      <p:sp>
        <p:nvSpPr>
          <p:cNvPr id="11" name="Shape 7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8C6A1F"/>
          </a:solidFill>
          <a:ln/>
        </p:spPr>
      </p:sp>
      <p:pic>
        <p:nvPicPr>
          <p:cNvPr id="12" name="Image 2" descr="/home/claude/deck-build-34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190652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783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citations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37960" y="251460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cites chunk [2], you can go look at chunk [2] and verify, directly, whether it supports the claim.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unsupported claim with no citation is an immediate, visible signal something went wrong.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— Building a RAG Pipeline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F2F0E8"/>
          </a:solidFill>
          <a:ln/>
        </p:spPr>
      </p:sp>
      <p:pic>
        <p:nvPicPr>
          <p:cNvPr id="3" name="Image 0" descr="/home/claude/deck-build-34/icons/exchange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chunk, three different shapes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F2F0E8"/>
          </a:solidFill>
          <a:ln/>
          <a:effectLst>
            <a:outerShdw sx="100000" sy="100000" kx="0" ky="0" algn="bl" rotWithShape="0" blurRad="101600" dist="38100" dir="2700000">
              <a:srgbClr val="0D1F1A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828800"/>
            <a:ext cx="3044952" cy="502920"/>
          </a:xfrm>
          <a:prstGeom prst="roundRect">
            <a:avLst>
              <a:gd name="adj" fmla="val 49091"/>
            </a:avLst>
          </a:prstGeom>
          <a:solidFill>
            <a:srgbClr val="1F4F3D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2880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string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295351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"Full-time employees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accrue 18 days..."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6824" y="155448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F2F0E8"/>
          </a:solidFill>
          <a:ln/>
          <a:effectLst>
            <a:outerShdw sx="100000" sy="100000" kx="0" ky="0" algn="bl" rotWithShape="0" blurRad="101600" dist="38100" dir="2700000">
              <a:srgbClr val="0D1F1A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5424" y="1828800"/>
            <a:ext cx="3044952" cy="502920"/>
          </a:xfrm>
          <a:prstGeom prst="roundRect">
            <a:avLst>
              <a:gd name="adj" fmla="val 49091"/>
            </a:avLst>
          </a:prstGeom>
          <a:solidFill>
            <a:srgbClr val="1F4F3D"/>
          </a:solidFill>
          <a:ln/>
        </p:spPr>
      </p:sp>
      <p:sp>
        <p:nvSpPr>
          <p:cNvPr id="12" name="Text 9"/>
          <p:cNvSpPr/>
          <p:nvPr/>
        </p:nvSpPr>
        <p:spPr>
          <a:xfrm>
            <a:off x="4535424" y="182880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35424" y="251460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+ similarity score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81144" y="3154680"/>
            <a:ext cx="295351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("Full-time employees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accrue 18 days...", 0.42)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73568" y="155448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F2F0E8"/>
          </a:solidFill>
          <a:ln/>
          <a:effectLst>
            <a:outerShdw sx="100000" sy="100000" kx="0" ky="0" algn="bl" rotWithShape="0" blurRad="101600" dist="38100" dir="2700000">
              <a:srgbClr val="0D1F1A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02168" y="1828800"/>
            <a:ext cx="3044952" cy="502920"/>
          </a:xfrm>
          <a:prstGeom prst="roundRect">
            <a:avLst>
              <a:gd name="adj" fmla="val 49091"/>
            </a:avLst>
          </a:prstGeom>
          <a:solidFill>
            <a:srgbClr val="1F4F3D"/>
          </a:solidFill>
          <a:ln/>
        </p:spPr>
      </p:sp>
      <p:sp>
        <p:nvSpPr>
          <p:cNvPr id="17" name="Text 14"/>
          <p:cNvSpPr/>
          <p:nvPr/>
        </p:nvSpPr>
        <p:spPr>
          <a:xfrm>
            <a:off x="8202168" y="182880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02168" y="251460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Numbered, citeable unit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47888" y="3154680"/>
            <a:ext cx="295351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"[1] Full-time employees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accrue 18 days..."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incidental complexity. Recognizing "this is an adapter step between stages" is a pattern you'll use constantly.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— Building a RAG Pipeline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3" name="Image 0" descr="/home/claude/deck-build-34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thinking, carried forward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D1F1A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6459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returns nothing useful?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212080" y="164592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"I don't have enough information" — don't force a confident answer from weak context.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D1F1A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31089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ignores the citation instruction?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12080" y="31089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don't always follow formatting perfectly. Plan for missing or malformed citations.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44348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D1F1A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45720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is genuinely unanswerable from the docs?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12080" y="45720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honest response as above — a system that knows its limits is more trustworthy.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— Building a RAG Pipeline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3" name="Image 0" descr="/home/claude/deck-build-34/icons/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generation does NOT fix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2A5E49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50876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D7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3.3's honest results: no chunk size tested got the sick-leave question right cleanly. Adding a generation step on top doesn't fix that.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74904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B98B2E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74904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confident-sounding answer built on weak retrieved context is, from the outside, indistinguishable from one built on strong context — unless you actually check the citations against the real retrieved chunks.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— Building a RAG Pipeline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3" name="Image 0" descr="/home/claude/deck-build-34/icons/penci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artifact: a complete RAG app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6" name="Image 1" descr="/home/claude/deck-build-34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657350"/>
            <a:ext cx="251460" cy="251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52704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raw user question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9" name="Image 2" descr="/home/claude/deck-build-34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315718"/>
            <a:ext cx="251460" cy="2514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18541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top-k chunks (reusing Session 3.3's vector store)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640080" y="2871216"/>
            <a:ext cx="457200" cy="45720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12" name="Image 3" descr="/home/claude/deck-build-34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974086"/>
            <a:ext cx="251460" cy="2514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284378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retrieved chunks into numbered, citeable context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640080" y="3529584"/>
            <a:ext cx="457200" cy="45720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15" name="Image 4" descr="/home/claude/deck-build-34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632454"/>
            <a:ext cx="251460" cy="2514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350215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grounded prompt and call the model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18" name="Image 5" descr="/home/claude/deck-build-34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4290822"/>
            <a:ext cx="251460" cy="2514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80160" y="41605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which chunks the answer actually cited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21" name="Image 6" descr="/home/claude/deck-build-34/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4949190"/>
            <a:ext cx="251460" cy="2514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80160" y="481888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answer + citations, ready to verify by hand</a:t>
            </a:r>
            <a:endParaRPr lang="en-US" sz="1500" dirty="0"/>
          </a:p>
        </p:txBody>
      </p:sp>
      <p:sp>
        <p:nvSpPr>
          <p:cNvPr id="23" name="Shape 14"/>
          <p:cNvSpPr/>
          <p:nvPr/>
        </p:nvSpPr>
        <p:spPr>
          <a:xfrm>
            <a:off x="640080" y="55321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2F0E8"/>
          </a:solidFill>
          <a:ln/>
        </p:spPr>
      </p:sp>
      <p:sp>
        <p:nvSpPr>
          <p:cNvPr id="24" name="Text 15"/>
          <p:cNvSpPr/>
          <p:nvPr/>
        </p:nvSpPr>
        <p:spPr>
          <a:xfrm>
            <a:off x="914400" y="55321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test question is deliberately unanswerable from the handbook — watch whether your system admits it honestly.</a:t>
            </a:r>
            <a:endParaRPr lang="en-US" sz="1350" dirty="0"/>
          </a:p>
        </p:txBody>
      </p:sp>
      <p:sp>
        <p:nvSpPr>
          <p:cNvPr id="25" name="Text 1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— Building a RAG Pipeline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built the complete machine.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learn to find out exactly where it's lying to you.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D1F1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94360" cy="594360"/>
          </a:xfrm>
          <a:prstGeom prst="ellipse">
            <a:avLst/>
          </a:prstGeom>
          <a:solidFill>
            <a:srgbClr val="1F4F3D"/>
          </a:solidFill>
          <a:ln/>
        </p:spPr>
      </p:sp>
      <p:pic>
        <p:nvPicPr>
          <p:cNvPr id="6" name="Image 0" descr="/home/claude/deck-build-34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3282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945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3.5 — RAG Failure Modes &amp; Fixes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errors, retrieval misses, context stuffing, and re-ranking — the systematic vocabulary for diagnosing exactly the kind of near-misses you've already seen with your own eyes in Sessions 3.3 and 3.4.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artifact: debug a broken RAG pipeline (given).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94560" y="548640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1F4F3D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194560" y="5486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then Session 3.5: RAG Failure Modes &amp; Fixes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— Building a RAG Pipeline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3.4 — Building a RAG Pipeline</dc:title>
  <dc:subject>PptxGenJS Presentation</dc:subject>
  <dc:creator>GenAI for Everyone</dc:creator>
  <cp:lastModifiedBy>GenAI for Everyone</cp:lastModifiedBy>
  <cp:revision>1</cp:revision>
  <dcterms:created xsi:type="dcterms:W3CDTF">2026-06-27T16:32:01Z</dcterms:created>
  <dcterms:modified xsi:type="dcterms:W3CDTF">2026-06-27T16:32:01Z</dcterms:modified>
</cp:coreProperties>
</file>