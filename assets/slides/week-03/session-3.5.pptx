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2B2D31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560320" cy="2560320"/>
          </a:xfrm>
          <a:prstGeom prst="ellipse">
            <a:avLst/>
          </a:prstGeom>
          <a:solidFill>
            <a:srgbClr val="A13D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3.5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Failure Modes &amp; Fixes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errors, retrieval misses, context stuffing, and re-ranking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8" name="Image 0" descr="/home/claude/deck-build-35/icons/steth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naming and diagnosing what you've already seen go wrong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already seen every failure mode in this lesson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0EEEC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A13D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sick-leave question, run through 3 chunk sizes — none got it cleanly right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0EEEC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A13D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926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intro paragraph won the top spot purely by mentioning every topic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0EEEC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6177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A13D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17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43434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answer built on weak context looks identical to one built on strong context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A1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gives all of this a name, a diagnosis, and a fix.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cu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1: Chunking errors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2B2D31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chunk_size=15, overlap=0: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chunk[15] = "...Sick days do not carry"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chunk[16] = "over to the following year..."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A13D3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6118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phrase "carry over" is split across the cut. Neither chunk alone contains the complete fact.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signal: a known fact exists verbatim in the source, but the top chunk doesn't contain it whole.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searchmin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2: Retrieval misses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query: "Can I telecommute instead of going to the office?"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0EEE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sim=0.436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920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and health plan tiers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0EEE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8346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45920" y="2834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sim=0.434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834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Home-office equipment allowance (shares 1 word: "remote")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0EEEC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7490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4592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sim=0.384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91840" y="37490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leave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B2D31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Remote Work Policy section never appears. "Telecommute" and "office" share zero vocabulary with "remote," "hybrid" — the words the handbook actually uses.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3: Context stuffing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k=10 against an 11-chunk document: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57654"/>
            <a:ext cx="967435" cy="2954426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37614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0.359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63547" y="2372868"/>
            <a:ext cx="967435" cy="2839212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10" name="Text 7"/>
          <p:cNvSpPr/>
          <p:nvPr/>
        </p:nvSpPr>
        <p:spPr>
          <a:xfrm>
            <a:off x="1817827" y="2052828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63547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04134" y="2751430"/>
            <a:ext cx="967435" cy="2460650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13" name="Text 10"/>
          <p:cNvSpPr/>
          <p:nvPr/>
        </p:nvSpPr>
        <p:spPr>
          <a:xfrm>
            <a:off x="2858414" y="2431390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0.299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04134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44722" y="3055925"/>
            <a:ext cx="967435" cy="2156155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16" name="Text 13"/>
          <p:cNvSpPr/>
          <p:nvPr/>
        </p:nvSpPr>
        <p:spPr>
          <a:xfrm>
            <a:off x="3899002" y="2735885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44722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85309" y="3212287"/>
            <a:ext cx="967435" cy="1999793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19" name="Text 16"/>
          <p:cNvSpPr/>
          <p:nvPr/>
        </p:nvSpPr>
        <p:spPr>
          <a:xfrm>
            <a:off x="4939589" y="2892247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85309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25896" y="3952951"/>
            <a:ext cx="967435" cy="1259129"/>
          </a:xfrm>
          <a:prstGeom prst="rect">
            <a:avLst/>
          </a:prstGeom>
          <a:solidFill>
            <a:srgbClr val="A13D3D"/>
          </a:solidFill>
          <a:ln/>
        </p:spPr>
      </p:sp>
      <p:sp>
        <p:nvSpPr>
          <p:cNvPr id="22" name="Text 19"/>
          <p:cNvSpPr/>
          <p:nvPr/>
        </p:nvSpPr>
        <p:spPr>
          <a:xfrm>
            <a:off x="5980176" y="3632911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025896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66483" y="3994099"/>
            <a:ext cx="967435" cy="1217981"/>
          </a:xfrm>
          <a:prstGeom prst="rect">
            <a:avLst/>
          </a:prstGeom>
          <a:solidFill>
            <a:srgbClr val="5A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7020763" y="3674059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0.148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066483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107070" y="4002329"/>
            <a:ext cx="967435" cy="1209751"/>
          </a:xfrm>
          <a:prstGeom prst="rect">
            <a:avLst/>
          </a:prstGeom>
          <a:solidFill>
            <a:srgbClr val="5A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8061350" y="3682289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107070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147658" y="4775911"/>
            <a:ext cx="967435" cy="436169"/>
          </a:xfrm>
          <a:prstGeom prst="rect">
            <a:avLst/>
          </a:prstGeom>
          <a:solidFill>
            <a:srgbClr val="5A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9101938" y="4455871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47658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188245" y="5006340"/>
            <a:ext cx="967435" cy="205740"/>
          </a:xfrm>
          <a:prstGeom prst="rect">
            <a:avLst/>
          </a:prstGeom>
          <a:solidFill>
            <a:srgbClr val="5A4444"/>
          </a:solidFill>
          <a:ln/>
        </p:spPr>
      </p:sp>
      <p:sp>
        <p:nvSpPr>
          <p:cNvPr id="34" name="Text 31"/>
          <p:cNvSpPr/>
          <p:nvPr/>
        </p:nvSpPr>
        <p:spPr>
          <a:xfrm>
            <a:off x="10142525" y="4686300"/>
            <a:ext cx="10588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0188245" y="5257800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A13D3D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" y="56235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 retrieved chunks (40%) score below 0.15 — essentially unrelated, sent to the model anyway.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so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for both misses and stuffing: re-ranking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0EEEC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1: Cast a wide net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top-20 by cosine similarity, not top-3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715000" y="2331720"/>
            <a:ext cx="502920" cy="502920"/>
          </a:xfrm>
          <a:prstGeom prst="ellipse">
            <a:avLst/>
          </a:prstGeom>
          <a:solidFill>
            <a:srgbClr val="A13D3D"/>
          </a:solidFill>
          <a:ln/>
        </p:spPr>
      </p:sp>
      <p:pic>
        <p:nvPicPr>
          <p:cNvPr id="9" name="Image 1" descr="/home/claude/deck-build-35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2457450"/>
            <a:ext cx="251460" cy="2514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55448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2B2D31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2: Look more carefully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6656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expensive comparison re-scores just those 20 — keep only the best few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0EEEC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37490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Fixes misses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931920" y="3749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near-miss outside the original top-3 gets a second chance to be reconsidered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49377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0EEEC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937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Fixes stuffing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931920" y="4937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re-ranked best few reach the final prompt, not all 20 candidates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kinds of "wrong answer"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2B2D31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A13D3D"/>
          </a:solidFill>
          <a:ln/>
        </p:spPr>
      </p:sp>
      <p:pic>
        <p:nvPicPr>
          <p:cNvPr id="7" name="Image 1" descr="/home/claude/deck-build-35/icons/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195224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problem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three failure modes. Discoverable cause, targeted fix. Point at exactly what went wrong and exactly what to change.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A13D3D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6B2828"/>
          </a:solidFill>
          <a:ln/>
        </p:spPr>
      </p:sp>
      <p:pic>
        <p:nvPicPr>
          <p:cNvPr id="12" name="Image 2" descr="/home/claude/deck-build-35/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95224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problem (Week 5)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37960" y="25603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well-functioning pipeline can produce a subtly wrong answer no single component failure explains. Needs systematic evaluation, not a single fix.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you check things is the actual skill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A13D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600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look at the answer's wording — fluency tells you nothing about correctness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A13D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560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 was actually retrieved — is the right chunk there at all?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A13D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3520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entirely? → chunking error or retrieval miss. Present but buried? → context stuffing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A13D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1600" y="4480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symptom, different cause, different fix — every time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5577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0EEEC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5778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straight to "the model is bad at this" — without checking what it was given — is the most common mistake here.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B2D31"/>
          </a:solidFill>
          <a:ln/>
        </p:spPr>
      </p:sp>
      <p:pic>
        <p:nvPicPr>
          <p:cNvPr id="3" name="Image 0" descr="/home/claude/deck-build-35/icons/steth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artifact: debug a broken pipeline (given)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real, planted bugs. Your job: diagnose, not fix.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2B2D31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A13D3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4028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chunks, zero overlap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06824" y="196596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2B2D31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224028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A13D3D"/>
          </a:solidFill>
          <a:ln/>
        </p:spPr>
      </p:sp>
      <p:sp>
        <p:nvSpPr>
          <p:cNvPr id="12" name="Text 9"/>
          <p:cNvSpPr/>
          <p:nvPr/>
        </p:nvSpPr>
        <p:spPr>
          <a:xfrm>
            <a:off x="4535424" y="224028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81144" y="2971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phrasing vs. handbook vocabulary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3568" y="1965960"/>
            <a:ext cx="3502152" cy="3108960"/>
          </a:xfrm>
          <a:prstGeom prst="roundRect">
            <a:avLst>
              <a:gd name="adj" fmla="val 2353"/>
            </a:avLst>
          </a:prstGeom>
          <a:solidFill>
            <a:srgbClr val="2B2D31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02168" y="224028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A13D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02168" y="224028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47888" y="2971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 against an 11-chunk document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53035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C45B5B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case: name the failure mode, cite specific evidence from the real output, propose a fix.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build it. You can debug it.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lab asks you to apply this diagnostic instinct unprompted, while building something new.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0EEEC"/>
          </a:solidFill>
          <a:ln/>
          <a:effectLst>
            <a:outerShdw sx="100000" sy="100000" kx="0" ky="0" algn="bl" rotWithShape="0" blurRad="101600" dist="38100" dir="2700000">
              <a:srgbClr val="0D0D0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A13D3D"/>
          </a:solidFill>
          <a:ln/>
        </p:spPr>
      </p:sp>
      <p:pic>
        <p:nvPicPr>
          <p:cNvPr id="6" name="Image 0" descr="/home/claude/deck-build-35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3.6 — Week 3 Lab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day. Build a company policy Q&amp;A bot over real-world-style documents — using everything from chunking through citation grounding through failure diagnosis, the same way Session 2.6 combined Week 2's techniques into one real system.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A13D3D">
              <a:alpha val="1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3.6: Week 3 Lab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— RAG Failure Modes &amp; Fixes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3.5 — RAG Failure Modes &amp; Fixes</dc:title>
  <dc:subject>PptxGenJS Presentation</dc:subject>
  <dc:creator>GenAI for Everyone</dc:creator>
  <cp:lastModifiedBy>GenAI for Everyone</cp:lastModifiedBy>
  <cp:revision>1</cp:revision>
  <dcterms:created xsi:type="dcterms:W3CDTF">2026-06-27T16:41:51Z</dcterms:created>
  <dcterms:modified xsi:type="dcterms:W3CDTF">2026-06-27T16:41:51Z</dcterms:modified>
</cp:coreProperties>
</file>