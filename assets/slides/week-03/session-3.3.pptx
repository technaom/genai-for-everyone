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389120" cy="4389120"/>
          </a:xfrm>
          <a:prstGeom prst="ellipse">
            <a:avLst/>
          </a:prstGeom>
          <a:solidFill>
            <a:srgbClr val="3E475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663440"/>
            <a:ext cx="2560320" cy="2560320"/>
          </a:xfrm>
          <a:prstGeom prst="ellipse">
            <a:avLst/>
          </a:prstGeom>
          <a:solidFill>
            <a:srgbClr val="C2762B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SESSION 3.3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Databases &amp; Retrieval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strategies, vector stores, and top-k retrieval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777240" cy="777240"/>
          </a:xfrm>
          <a:prstGeom prst="ellipse">
            <a:avLst/>
          </a:prstGeom>
          <a:solidFill>
            <a:srgbClr val="3E4756"/>
          </a:solidFill>
          <a:ln/>
        </p:spPr>
      </p:sp>
      <p:pic>
        <p:nvPicPr>
          <p:cNvPr id="8" name="Image 0" descr="/home/claude/deck-build-33/icons/pdf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4034790"/>
            <a:ext cx="388620" cy="3886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384048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C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chunk a real PDF, embed it, store it, and retrieve from it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— Vector Databases &amp; Retrieval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20 sentences to a real library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624328" cy="1737360"/>
          </a:xfrm>
          <a:prstGeom prst="roundRect">
            <a:avLst>
              <a:gd name="adj" fmla="val 4211"/>
            </a:avLst>
          </a:prstGeom>
          <a:solidFill>
            <a:srgbClr val="3E4756"/>
          </a:solidFill>
          <a:ln/>
          <a:effectLst>
            <a:outerShdw sx="100000" sy="100000" kx="0" ky="0" algn="bl" rotWithShape="0" blurRad="101600" dist="38100" dir="2700000">
              <a:srgbClr val="1A1D24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77924" y="1691640"/>
            <a:ext cx="548640" cy="548640"/>
          </a:xfrm>
          <a:prstGeom prst="ellipse">
            <a:avLst/>
          </a:prstGeom>
          <a:solidFill>
            <a:srgbClr val="262C36"/>
          </a:solidFill>
          <a:ln/>
        </p:spPr>
      </p:sp>
      <p:pic>
        <p:nvPicPr>
          <p:cNvPr id="5" name="Image 0" descr="/home/claude/deck-build-33/icons/pdf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1368" y="181508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377440"/>
            <a:ext cx="23500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200-page employee handbook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401568" y="1463040"/>
            <a:ext cx="2624328" cy="1737360"/>
          </a:xfrm>
          <a:prstGeom prst="roundRect">
            <a:avLst>
              <a:gd name="adj" fmla="val 4211"/>
            </a:avLst>
          </a:prstGeom>
          <a:solidFill>
            <a:srgbClr val="3E4756"/>
          </a:solidFill>
          <a:ln/>
          <a:effectLst>
            <a:outerShdw sx="100000" sy="100000" kx="0" ky="0" algn="bl" rotWithShape="0" blurRad="101600" dist="38100" dir="2700000">
              <a:srgbClr val="1A1D24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439412" y="1691640"/>
            <a:ext cx="548640" cy="548640"/>
          </a:xfrm>
          <a:prstGeom prst="ellipse">
            <a:avLst/>
          </a:prstGeom>
          <a:solidFill>
            <a:srgbClr val="262C36"/>
          </a:solidFill>
          <a:ln/>
        </p:spPr>
      </p:sp>
      <p:pic>
        <p:nvPicPr>
          <p:cNvPr id="9" name="Image 1" descr="/home/claude/deck-build-33/icon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1815084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38728" y="2377440"/>
            <a:ext cx="23500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product spec documents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63056" y="1463040"/>
            <a:ext cx="2624328" cy="1737360"/>
          </a:xfrm>
          <a:prstGeom prst="roundRect">
            <a:avLst>
              <a:gd name="adj" fmla="val 4211"/>
            </a:avLst>
          </a:prstGeom>
          <a:solidFill>
            <a:srgbClr val="3E4756"/>
          </a:solidFill>
          <a:ln/>
          <a:effectLst>
            <a:outerShdw sx="100000" sy="100000" kx="0" ky="0" algn="bl" rotWithShape="0" blurRad="101600" dist="38100" dir="2700000">
              <a:srgbClr val="1A1D24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200900" y="1691640"/>
            <a:ext cx="548640" cy="548640"/>
          </a:xfrm>
          <a:prstGeom prst="ellipse">
            <a:avLst/>
          </a:prstGeom>
          <a:solidFill>
            <a:srgbClr val="262C36"/>
          </a:solidFill>
          <a:ln/>
        </p:spPr>
      </p:sp>
      <p:pic>
        <p:nvPicPr>
          <p:cNvPr id="13" name="Image 2" descr="/home/claude/deck-build-33/icons/lis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344" y="1815084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00216" y="2377440"/>
            <a:ext cx="23500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years of meeting notes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924544" y="1463040"/>
            <a:ext cx="2624328" cy="1737360"/>
          </a:xfrm>
          <a:prstGeom prst="roundRect">
            <a:avLst>
              <a:gd name="adj" fmla="val 4211"/>
            </a:avLst>
          </a:prstGeom>
          <a:solidFill>
            <a:srgbClr val="3E4756"/>
          </a:solidFill>
          <a:ln/>
          <a:effectLst>
            <a:outerShdw sx="100000" sy="100000" kx="0" ky="0" algn="bl" rotWithShape="0" blurRad="101600" dist="38100" dir="2700000">
              <a:srgbClr val="1A1D24">
                <a:alpha val="1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962388" y="1691640"/>
            <a:ext cx="548640" cy="548640"/>
          </a:xfrm>
          <a:prstGeom prst="ellipse">
            <a:avLst/>
          </a:prstGeom>
          <a:solidFill>
            <a:srgbClr val="262C36"/>
          </a:solidFill>
          <a:ln/>
        </p:spPr>
      </p:sp>
      <p:pic>
        <p:nvPicPr>
          <p:cNvPr id="17" name="Image 3" descr="/home/claude/deck-build-33/icons/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5832" y="1815084"/>
            <a:ext cx="301752" cy="30175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61704" y="2377440"/>
            <a:ext cx="23500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2,000-article support KB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40080" y="35204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F2F1EE"/>
          </a:solidFill>
          <a:ln/>
        </p:spPr>
      </p:sp>
      <p:sp>
        <p:nvSpPr>
          <p:cNvPr id="20" name="Text 14"/>
          <p:cNvSpPr/>
          <p:nvPr/>
        </p:nvSpPr>
        <p:spPr>
          <a:xfrm>
            <a:off x="914400" y="352044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question. The answer might be buried in paragraph 14 of a 40-page PDF. You can't hand the whole corpus to an LLM — too slow, too expensive, often worse.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three-part fix: chunking → vector stores → top-k retrieval.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— Vector Databases &amp; Retrieval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3E4756"/>
          </a:solidFill>
          <a:ln/>
        </p:spPr>
      </p:sp>
      <p:pic>
        <p:nvPicPr>
          <p:cNvPr id="3" name="Image 0" descr="/home/claude/deck-build-33/icons/cu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Chunking: a decision with two failure modes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A1D24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1737360"/>
            <a:ext cx="548640" cy="548640"/>
          </a:xfrm>
          <a:prstGeom prst="ellipse">
            <a:avLst/>
          </a:prstGeom>
          <a:solidFill>
            <a:srgbClr val="B23B3B"/>
          </a:solidFill>
          <a:ln/>
        </p:spPr>
      </p:sp>
      <p:pic>
        <p:nvPicPr>
          <p:cNvPr id="7" name="Image 1" descr="/home/claude/deck-build-33/icons/warn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" y="1860804"/>
            <a:ext cx="301752" cy="3017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17373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big: a whole document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14400" y="242316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vector becomes an average — a blur — of everything from the executive summary to an appendix about printer settings.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question competes against this single enormous blurred representation. It cannot win.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263640" y="146304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A1D24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537960" y="1737360"/>
            <a:ext cx="548640" cy="548640"/>
          </a:xfrm>
          <a:prstGeom prst="ellipse">
            <a:avLst/>
          </a:prstGeom>
          <a:solidFill>
            <a:srgbClr val="B23B3B"/>
          </a:solidFill>
          <a:ln/>
        </p:spPr>
      </p:sp>
      <p:pic>
        <p:nvPicPr>
          <p:cNvPr id="12" name="Image 2" descr="/home/claude/deck-build-33/icons/warnin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404" y="1860804"/>
            <a:ext cx="301752" cy="3017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23760" y="17373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small: every sentence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537960" y="2423160"/>
            <a:ext cx="4709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also applies to part-time employees" is clear in its paragraph, nearly meaningless sliced out alone.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embedding can only encode meaning that's actually present in the text you feed it — strip the context, the vector has nothing left to represent.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— Vector Databases &amp; Retrieval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F2F1EE"/>
          </a:solidFill>
          <a:ln/>
        </p:spPr>
      </p:sp>
      <p:pic>
        <p:nvPicPr>
          <p:cNvPr id="3" name="Image 0" descr="/home/claude/deck-build-33/icons/sliders_s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practical answer sits in between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15087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3E4756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starting pattern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0116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200–500 words per chunk  ·  10–20% overlap between consecutive chunks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overlap?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3749040"/>
            <a:ext cx="5029200" cy="640080"/>
          </a:xfrm>
          <a:prstGeom prst="rect">
            <a:avLst/>
          </a:prstGeom>
          <a:solidFill>
            <a:srgbClr val="D8D4CC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7490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 1:  ... idea spans the boundary ...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480560" y="4526280"/>
            <a:ext cx="6126480" cy="640080"/>
          </a:xfrm>
          <a:prstGeom prst="rect">
            <a:avLst/>
          </a:prstGeom>
          <a:solidFill>
            <a:srgbClr val="C2762B"/>
          </a:solidFill>
          <a:ln/>
        </p:spPr>
      </p:sp>
      <p:sp>
        <p:nvSpPr>
          <p:cNvPr id="12" name="Text 9"/>
          <p:cNvSpPr/>
          <p:nvPr/>
        </p:nvSpPr>
        <p:spPr>
          <a:xfrm>
            <a:off x="5806440" y="452628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 2: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949440" y="45262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idea spans the boundary ...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80560" y="3749040"/>
            <a:ext cx="1188720" cy="1417320"/>
          </a:xfrm>
          <a:prstGeom prst="rect">
            <a:avLst/>
          </a:prstGeom>
          <a:solidFill>
            <a:srgbClr val="8C7142"/>
          </a:solidFill>
          <a:ln/>
        </p:spPr>
      </p:sp>
      <p:sp>
        <p:nvSpPr>
          <p:cNvPr id="15" name="Text 12"/>
          <p:cNvSpPr/>
          <p:nvPr/>
        </p:nvSpPr>
        <p:spPr>
          <a:xfrm>
            <a:off x="4480560" y="52578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0080" y="553212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overlap, an idea split across the cut gets orphaned — present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neither chunk fully. Shared words on both sides keep it intact.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— Vector Databases &amp; Retrieval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62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3E4756"/>
          </a:solidFill>
          <a:ln/>
        </p:spPr>
      </p:sp>
      <p:pic>
        <p:nvPicPr>
          <p:cNvPr id="3" name="Image 0" descr="/home/claude/deck-build-33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stores: a card catalog for meaning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5212080" cy="4389120"/>
          </a:xfrm>
          <a:prstGeom prst="roundRect">
            <a:avLst>
              <a:gd name="adj" fmla="val 1667"/>
            </a:avLst>
          </a:prstGeom>
          <a:solidFill>
            <a:srgbClr val="3E4756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262C36"/>
          </a:solidFill>
          <a:ln/>
        </p:spPr>
      </p:sp>
      <p:pic>
        <p:nvPicPr>
          <p:cNvPr id="7" name="Image 1" descr="/home/claude/deck-build-33/icon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" y="1952244"/>
            <a:ext cx="301752" cy="3017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18288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Brute-force search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14400" y="2560320"/>
            <a:ext cx="45720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cosine similarity against EVERY stored vector for every query.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20 sentences. Scales linearly — a million vectors means a million comparisons per query. Too slow for real, interactive use.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263640" y="1554480"/>
            <a:ext cx="5257800" cy="4389120"/>
          </a:xfrm>
          <a:prstGeom prst="roundRect">
            <a:avLst>
              <a:gd name="adj" fmla="val 1667"/>
            </a:avLst>
          </a:prstGeom>
          <a:solidFill>
            <a:srgbClr val="C2762B"/>
          </a:solidFill>
          <a:ln/>
        </p:spPr>
      </p:sp>
      <p:sp>
        <p:nvSpPr>
          <p:cNvPr id="11" name="Shape 7"/>
          <p:cNvSpPr/>
          <p:nvPr/>
        </p:nvSpPr>
        <p:spPr>
          <a:xfrm>
            <a:off x="6537960" y="1828800"/>
            <a:ext cx="548640" cy="548640"/>
          </a:xfrm>
          <a:prstGeom prst="ellipse">
            <a:avLst/>
          </a:prstGeom>
          <a:solidFill>
            <a:srgbClr val="8C5A1F"/>
          </a:solidFill>
          <a:ln/>
        </p:spPr>
      </p:sp>
      <p:pic>
        <p:nvPicPr>
          <p:cNvPr id="12" name="Image 2" descr="/home/claude/deck-build-33/icons/bo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404" y="1952244"/>
            <a:ext cx="301752" cy="3017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23760" y="18288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 indexing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537960" y="256032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Nearest Neighbor search: organizes vectors so most of the database can be skipped entirely.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a small chance of missing the single best match for an enormous gain in speed — what real production vector stores use.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— Vector Databases &amp; Retrieval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3E4756"/>
          </a:solidFill>
          <a:ln/>
        </p:spPr>
      </p:sp>
      <p:pic>
        <p:nvPicPr>
          <p:cNvPr id="3" name="Image 0" descr="/home/claude/deck-build-33/icons/lis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Top-k retrieval: how much is enough?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150876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F2F1EE"/>
          </a:solidFill>
          <a:ln/>
          <a:effectLst>
            <a:outerShdw sx="100000" sy="100000" kx="0" ky="0" algn="bl" rotWithShape="0" blurRad="101600" dist="38100" dir="2700000">
              <a:srgbClr val="1A1D24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737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too low (k=1)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28600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the answer is split across two chunks, or the single best cosine match isn't actually the most useful one. No fallback if it's a near-miss.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63640" y="150876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2F1EE"/>
          </a:solidFill>
          <a:ln/>
          <a:effectLst>
            <a:outerShdw sx="100000" sy="100000" kx="0" ky="0" algn="bl" rotWithShape="0" blurRad="101600" dist="38100" dir="2700000">
              <a:srgbClr val="1A1D24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37960" y="1737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2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too high (k=50)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37960" y="228600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reintroduces the problem RAG was meant to solve — a pile of mostly-irrelevant text, diluting the genuinely useful passages, more cost and latency, and models distracted by noise.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C2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real-world starting point: k = 3 to 10 — tuned per use case, not fixed.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— Vector Databases &amp; Retrieval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62C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steps, end to end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3E475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5880" y="137160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the source document into sensibly-bounded pieces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76272"/>
            <a:ext cx="502920" cy="502920"/>
          </a:xfrm>
          <a:prstGeom prst="ellipse">
            <a:avLst/>
          </a:prstGeom>
          <a:solidFill>
            <a:srgbClr val="3E475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76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2130552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each chunk using the vector approach from 3.2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935224"/>
            <a:ext cx="502920" cy="502920"/>
          </a:xfrm>
          <a:prstGeom prst="ellipse">
            <a:avLst/>
          </a:prstGeom>
          <a:solidFill>
            <a:srgbClr val="3E475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35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889504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every chunk's vector + text in a vector store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694176"/>
            <a:ext cx="502920" cy="502920"/>
          </a:xfrm>
          <a:prstGeom prst="ellipse">
            <a:avLst/>
          </a:prstGeom>
          <a:solidFill>
            <a:srgbClr val="3E475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941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3648456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incoming question the same way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453128"/>
            <a:ext cx="502920" cy="502920"/>
          </a:xfrm>
          <a:prstGeom prst="ellipse">
            <a:avLst/>
          </a:prstGeom>
          <a:solidFill>
            <a:srgbClr val="3E475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453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4407408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the top-k most similar chunks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5212080"/>
            <a:ext cx="502920" cy="502920"/>
          </a:xfrm>
          <a:prstGeom prst="ellipse">
            <a:avLst/>
          </a:prstGeom>
          <a:solidFill>
            <a:srgbClr val="C2762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212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5880" y="516636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A6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those chunks to the model as context (next session)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— Vector Databases &amp; Retrieval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3E4756"/>
          </a:solidFill>
          <a:ln/>
        </p:spPr>
      </p:sp>
      <p:pic>
        <p:nvPicPr>
          <p:cNvPr id="3" name="Image 0" descr="/home/claude/deck-build-33/icons/flas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real results: an honest look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40080" y="13716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"How many sick days do employees get and do they roll over?"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2F1EE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9202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chunk_size = 100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383280" y="192024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match: a PTO chunk — wrong topic entirely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784080" y="2148840"/>
            <a:ext cx="1463040" cy="548640"/>
          </a:xfrm>
          <a:prstGeom prst="roundRect">
            <a:avLst>
              <a:gd name="adj" fmla="val 50000"/>
            </a:avLst>
          </a:prstGeom>
          <a:solidFill>
            <a:srgbClr val="B23B3B"/>
          </a:solidFill>
          <a:ln/>
        </p:spPr>
      </p:sp>
      <p:sp>
        <p:nvSpPr>
          <p:cNvPr id="10" name="Text 7"/>
          <p:cNvSpPr/>
          <p:nvPr/>
        </p:nvSpPr>
        <p:spPr>
          <a:xfrm>
            <a:off x="9784080" y="21488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310896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2F1EE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1089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chunk_size = 30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383280" y="310896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sick-leave chunk ties for #1 — close, not clean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9784080" y="3337560"/>
            <a:ext cx="1463040" cy="548640"/>
          </a:xfrm>
          <a:prstGeom prst="roundRect">
            <a:avLst>
              <a:gd name="adj" fmla="val 50000"/>
            </a:avLst>
          </a:prstGeom>
          <a:solidFill>
            <a:srgbClr val="C2762B"/>
          </a:solidFill>
          <a:ln/>
        </p:spPr>
      </p:sp>
      <p:sp>
        <p:nvSpPr>
          <p:cNvPr id="15" name="Text 12"/>
          <p:cNvSpPr/>
          <p:nvPr/>
        </p:nvSpPr>
        <p:spPr>
          <a:xfrm>
            <a:off x="9784080" y="33375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429768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2F1EE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42976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6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chunk_size = 250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383280" y="429768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intro paragraph starts winning instead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9784080" y="4526280"/>
            <a:ext cx="1463040" cy="548640"/>
          </a:xfrm>
          <a:prstGeom prst="roundRect">
            <a:avLst>
              <a:gd name="adj" fmla="val 50000"/>
            </a:avLst>
          </a:prstGeom>
          <a:solidFill>
            <a:srgbClr val="B23B3B"/>
          </a:solidFill>
          <a:ln/>
        </p:spPr>
      </p:sp>
      <p:sp>
        <p:nvSpPr>
          <p:cNvPr id="20" name="Text 17"/>
          <p:cNvSpPr/>
          <p:nvPr/>
        </p:nvSpPr>
        <p:spPr>
          <a:xfrm>
            <a:off x="9784080" y="4526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" y="56235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3E4756"/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56235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setting tested gets this right cleanly. That's the real lesson — not a flaw in the exercise.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— Vector Databases &amp; Retrieval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31520" cy="731520"/>
          </a:xfrm>
          <a:prstGeom prst="ellipse">
            <a:avLst/>
          </a:prstGeom>
          <a:solidFill>
            <a:srgbClr val="C2762B"/>
          </a:solidFill>
          <a:ln/>
        </p:spPr>
      </p:sp>
      <p:pic>
        <p:nvPicPr>
          <p:cNvPr id="3" name="Image 0" descr="/home/claude/deck-build-33/icons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667512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48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Semantically close ≠ actually useful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1554480"/>
            <a:ext cx="108813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A1D24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554480"/>
            <a:ext cx="10332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by cosine similarity finds chunks that are semantically CLOSE to the query. That is not automatically the same as MOST USEFUL for answering it.</a:t>
            </a:r>
            <a:endParaRPr lang="en-US" sz="1550" dirty="0"/>
          </a:p>
          <a:p>
            <a:pPr indent="0" marL="0">
              <a:lnSpc>
                <a:spcPct val="140000"/>
              </a:lnSpc>
              <a:buNone/>
            </a:pPr>
            <a:endParaRPr lang="en-US" sz="15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5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chunk can be topically related without containing the specific fact being asked about. The best answer might be split across two chunks that each look only moderately relevant alone.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393192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262C36"/>
          </a:solidFill>
          <a:ln/>
        </p:spPr>
      </p:sp>
      <p:sp>
        <p:nvSpPr>
          <p:cNvPr id="8" name="Shape 5"/>
          <p:cNvSpPr/>
          <p:nvPr/>
        </p:nvSpPr>
        <p:spPr>
          <a:xfrm>
            <a:off x="914400" y="4206240"/>
            <a:ext cx="548640" cy="548640"/>
          </a:xfrm>
          <a:prstGeom prst="ellipse">
            <a:avLst/>
          </a:prstGeom>
          <a:solidFill>
            <a:srgbClr val="3E4756"/>
          </a:solidFill>
          <a:ln/>
        </p:spPr>
      </p:sp>
      <p:pic>
        <p:nvPicPr>
          <p:cNvPr id="9" name="Image 1" descr="/home/claude/deck-build-33/icons/slid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" y="4329684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4206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6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Coming in Session 3.5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8D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systems often add re-ranking — a second, more careful (and more expensive) pass over the initial top-k candidates. You'll meet it by name when you learn to diagnose and fix retrieval failure modes systematically.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— Vector Databases &amp; Retrieval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find the right passages. Next: answer with them.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exercise stopped right after retrieval — no generation happened yet. That's deliberate.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3200400"/>
          </a:xfrm>
          <a:prstGeom prst="roundRect">
            <a:avLst>
              <a:gd name="adj" fmla="val 2286"/>
            </a:avLst>
          </a:prstGeom>
          <a:solidFill>
            <a:srgbClr val="F2F1EE"/>
          </a:solidFill>
          <a:ln/>
          <a:effectLst>
            <a:outerShdw sx="100000" sy="100000" kx="0" ky="0" algn="bl" rotWithShape="0" blurRad="101600" dist="38100" dir="2700000">
              <a:srgbClr val="1A1D24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94360" cy="594360"/>
          </a:xfrm>
          <a:prstGeom prst="ellipse">
            <a:avLst/>
          </a:prstGeom>
          <a:solidFill>
            <a:srgbClr val="C2762B"/>
          </a:solidFill>
          <a:ln/>
        </p:spPr>
      </p:sp>
      <p:pic>
        <p:nvPicPr>
          <p:cNvPr id="6" name="Image 0" descr="/home/claude/deck-build-33/icons/arrow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131" y="232829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9456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3.4 — Building a RAG Pipeline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297180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→ augmentation → generation, end to end, with citation grounding so the model's answer can be traced back to the real chunks that supported it.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42062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artifact: an end-to-end RAG app over a document set.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194560" y="5486400"/>
            <a:ext cx="7772400" cy="777240"/>
          </a:xfrm>
          <a:prstGeom prst="roundRect">
            <a:avLst>
              <a:gd name="adj" fmla="val 11765"/>
            </a:avLst>
          </a:prstGeom>
          <a:solidFill>
            <a:srgbClr val="C2762B">
              <a:alpha val="1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2194560" y="54864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2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Quiz, then Session 3.4: Building a RAG Pipeline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3.3 — Vector Databases &amp; Retrieval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3.3 — Vector Databases &amp; Retrieval</dc:title>
  <dc:subject>PptxGenJS Presentation</dc:subject>
  <dc:creator>GenAI for Everyone</dc:creator>
  <cp:lastModifiedBy>GenAI for Everyone</cp:lastModifiedBy>
  <cp:revision>1</cp:revision>
  <dcterms:created xsi:type="dcterms:W3CDTF">2026-06-27T16:21:06Z</dcterms:created>
  <dcterms:modified xsi:type="dcterms:W3CDTF">2026-06-27T16:21:06Z</dcterms:modified>
</cp:coreProperties>
</file>