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743200" cy="2743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3.1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LLMs Need External Knowledge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cutoffs, hallucination on facts, and knowing when RAG is the answer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777240" cy="777240"/>
          </a:xfrm>
          <a:prstGeom prst="ellipse">
            <a:avLst/>
          </a:prstGeom>
          <a:solidFill>
            <a:srgbClr val="374A9E"/>
          </a:solidFill>
          <a:ln/>
        </p:spPr>
      </p:sp>
      <p:pic>
        <p:nvPicPr>
          <p:cNvPr id="8" name="Image 0" descr="/home/claude/deck-build-31/icons/ph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403479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384048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Week 3 — Working with Data: Embeddings &amp; RAG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— Why LLMs Need External Knowledge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brilliant consultant with a hard edge to their memory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3886200"/>
          </a:xfrm>
          <a:prstGeom prst="roundRect">
            <a:avLst>
              <a:gd name="adj" fmla="val 1882"/>
            </a:avLst>
          </a:prstGeom>
          <a:solidFill>
            <a:srgbClr val="F2F5FC"/>
          </a:solidFill>
          <a:ln/>
          <a:effectLst>
            <a:outerShdw sx="100000" sy="100000" kx="0" ky="0" algn="bl" rotWithShape="0" blurRad="101600" dist="38100" dir="2700000">
              <a:srgbClr val="0A0E2E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6916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deck-build-31/icon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81051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691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about quantum entanglement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24688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Dazzling. Fluent. Reliable — because this knowledge was thoroughly represented in training, and it doesn't change day to day.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A0E2E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6916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deck-build-31/icons/times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6916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what last week's board meeting decided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583680" y="24688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fluent. Just as confident. Completely made up — they were never in that room, and they don't even seem to notice they don't know.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553212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2F5FC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situation you're in every time you use an LLM.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— Why LLMs Need External Knowledge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deck-build-31/icons/calend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cutoff: a photograph, not a livestream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914400" y="2377440"/>
            <a:ext cx="100584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5120" y="22402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1691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cutoff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8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or well-established facts here stay reliable forever — history, stable science, anything that was true then and is still true now.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49440" y="2606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cutoff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49440" y="30175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8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events, current role-holders, anything created or changed after this point — the model has no reliable knowledge here at all.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4434840"/>
            <a:ext cx="10058400" cy="1554480"/>
          </a:xfrm>
          <a:prstGeom prst="roundRect">
            <a:avLst>
              <a:gd name="adj" fmla="val 4706"/>
            </a:avLst>
          </a:prstGeom>
          <a:solidFill>
            <a:srgbClr val="262E63"/>
          </a:solidFill>
          <a:ln/>
        </p:spPr>
      </p:sp>
      <p:sp>
        <p:nvSpPr>
          <p:cNvPr id="13" name="Text 10"/>
          <p:cNvSpPr/>
          <p:nvPr/>
        </p:nvSpPr>
        <p:spPr>
          <a:xfrm>
            <a:off x="1280160" y="4434840"/>
            <a:ext cx="9326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intuition: a model's confidence is not a measurement of its accuracy. Both a correct answer and a fabricated one are expressed in the same calm, complete sentences.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— Why LLMs Need External Knowledge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deck-build-31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Fluent failure: why models don't say "I don't know"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25880" y="1490472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the next token using the most statistically plausible continuation of everything before it.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25880" y="2450592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training data on a topic is rich and clear, this process reliably produces correct answers.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25880" y="3410712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training data is thin, ambiguous, or absent, there's no built-in "stop, I don't know" mechanism.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25880" y="4370832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still produces the most plausible-sounding continuation — which can be entirely fabricated, yet read exactly as fluently as a correct answer.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2F5FC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calculator that doesn't know an answer throws an error. A model that doesn't know often fails fluently instead.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— Why LLMs Need External Knowledge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"Just retrain more often" doesn't fully solve this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262E63"/>
          </a:solidFill>
          <a:ln/>
          <a:effectLst>
            <a:outerShdw sx="100000" sy="100000" kx="0" ky="0" algn="bl" rotWithShape="0" blurRad="101600" dist="38100" dir="2700000">
              <a:srgbClr val="0A0E2E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-build-31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186080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373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1: Cost &amp; speed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8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expensive and slow — not something done continuously in the background. Even a recent cutoff leaves a real gap between "what's true now" and "what the model learned."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262E63"/>
          </a:solidFill>
          <a:ln/>
          <a:effectLst>
            <a:outerShdw sx="100000" sy="100000" kx="0" ky="0" algn="bl" rotWithShape="0" blurRad="101600" dist="38100" dir="2700000">
              <a:srgbClr val="0A0E2E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-build-31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186080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737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2: It was never going in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423160"/>
            <a:ext cx="4709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8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company documents, a customer's account data, a contract uploaded five minutes ago — this was never public training data, no matter how recently the model was trained. This is the deeper, more durable reason RAG exists.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— Why LLMs Need External Knowledge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hand them the real source before they answer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at its core, is a three-step move: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4023360"/>
          </a:xfrm>
          <a:prstGeom prst="roundRect">
            <a:avLst>
              <a:gd name="adj" fmla="val 2089"/>
            </a:avLst>
          </a:prstGeom>
          <a:solidFill>
            <a:srgbClr val="F2F5FC"/>
          </a:solidFill>
          <a:ln/>
          <a:effectLst>
            <a:outerShdw sx="100000" sy="100000" kx="0" ky="0" algn="bl" rotWithShape="0" blurRad="101600" dist="38100" dir="2700000">
              <a:srgbClr val="0A0E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9676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-build-31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4842" y="224256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Retrieve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703320"/>
            <a:ext cx="2862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specific real, current, relevant text that might answer the question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06824" y="1691640"/>
            <a:ext cx="3502152" cy="4023360"/>
          </a:xfrm>
          <a:prstGeom prst="roundRect">
            <a:avLst>
              <a:gd name="adj" fmla="val 2089"/>
            </a:avLst>
          </a:prstGeom>
          <a:solidFill>
            <a:srgbClr val="F2F5FC"/>
          </a:solidFill>
          <a:ln/>
          <a:effectLst>
            <a:outerShdw sx="100000" sy="100000" kx="0" ky="0" algn="bl" rotWithShape="0" blurRad="101600" dist="38100" dir="2700000">
              <a:srgbClr val="0A0E2E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642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-build-31/icons/puzz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586" y="224256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9704" y="310896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Augment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26864" y="3703320"/>
            <a:ext cx="2862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that retrieved text into the prompt, alongside the user's question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973568" y="1691640"/>
            <a:ext cx="3502152" cy="4023360"/>
          </a:xfrm>
          <a:prstGeom prst="roundRect">
            <a:avLst>
              <a:gd name="adj" fmla="val 2089"/>
            </a:avLst>
          </a:prstGeom>
          <a:solidFill>
            <a:srgbClr val="F2F5FC"/>
          </a:solidFill>
          <a:ln/>
          <a:effectLst>
            <a:outerShdw sx="100000" sy="100000" kx="0" ky="0" algn="bl" rotWithShape="0" blurRad="101600" dist="38100" dir="2700000">
              <a:srgbClr val="0A0E2E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13164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eck-build-31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8330" y="224256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6448" y="310896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Generate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93608" y="3703320"/>
            <a:ext cx="2862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answer using the provided text — grounded, not guessed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— Why LLMs Need External Knowledge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deck-build-31/icon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is the right call when...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B6B45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828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E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Training-data gap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06240" y="182880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depends on information not in the model's training data at all — internal docs, customer data, post-cutoff content.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B6B45">
              <a:alpha val="3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291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E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traceability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06240" y="329184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needs to be traceable to a real source — for compliance, trust, or simply citing where it came from.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" y="46177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B6B45">
              <a:alpha val="3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754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E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Time-sensitivity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06240" y="475488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information changes over time and answers need to reflect the current state, not a frozen snapshot.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— Why LLMs Need External Knowledge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deck-build-31/icons/times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for RAG is the wrong move when...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2F5FC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828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reasoning task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06240" y="182880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Summarizing, drafting, debugging, brainstorming — the model needs to think, not retrieve. Week 2's tools already cover this.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2F5FC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291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timeless knowledge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06240" y="329184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science, common definitions, settled history. The model already knows this reliably — retrieval adds complexity with no accuracy gain.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" y="46177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2F5FC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754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actually a prompting problem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06240" y="475488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the right knowledge but lacks context or constraints (2.1). Bolting on retrieval fixes the wrong layer.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— Why LLMs Need External Knowledge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deck-build-31/icons/sca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artifact: the "RAG or Not?" worksheet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 scenarios. For each, decide: RAG, Not RAG, or something else entirely — and argue your case.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262E6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574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20574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 assistant quoting exact NDA clauses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205740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262E63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20574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766560" y="20574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binary search + writing the code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15468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262E63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1546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34440" y="31546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"Today's top 3 financial headlines"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72200" y="315468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262E63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31546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766560" y="31546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HR bot answering personal sick-day balances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425196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262E63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2519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234440" y="42519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Polishing a pasted email's tone and grammar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72200" y="425196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262E63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0" y="42519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766560" y="42519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bot giving inconsistent return-policy answers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— Why LLMs Need External Knowledge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is the why. The rest of the week is the how.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057400" cy="3840480"/>
          </a:xfrm>
          <a:prstGeom prst="roundRect">
            <a:avLst>
              <a:gd name="adj" fmla="val 3556"/>
            </a:avLst>
          </a:prstGeom>
          <a:solidFill>
            <a:srgbClr val="F2F5FC"/>
          </a:solidFill>
          <a:ln/>
          <a:effectLst>
            <a:outerShdw sx="100000" sy="100000" kx="0" ky="0" algn="bl" rotWithShape="0" blurRad="101600" dist="38100" dir="2700000">
              <a:srgbClr val="0A0E2E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Demystified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"finding relevant text" becomes math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6352" y="1417320"/>
            <a:ext cx="2057400" cy="3840480"/>
          </a:xfrm>
          <a:prstGeom prst="roundRect">
            <a:avLst>
              <a:gd name="adj" fmla="val 3556"/>
            </a:avLst>
          </a:prstGeom>
          <a:solidFill>
            <a:srgbClr val="F2F5FC"/>
          </a:solidFill>
          <a:ln/>
          <a:effectLst>
            <a:outerShdw sx="100000" sy="100000" kx="0" ky="0" algn="bl" rotWithShape="0" blurRad="101600" dist="38100" dir="2700000">
              <a:srgbClr val="0A0E2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99232" y="16459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999232" y="16459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53512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DBs &amp; Retrieval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53512" y="32461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vector stores, top-k retrieval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92624" y="1417320"/>
            <a:ext cx="2057400" cy="3840480"/>
          </a:xfrm>
          <a:prstGeom prst="roundRect">
            <a:avLst>
              <a:gd name="adj" fmla="val 3556"/>
            </a:avLst>
          </a:prstGeom>
          <a:solidFill>
            <a:srgbClr val="F2F5FC"/>
          </a:solidFill>
          <a:ln/>
          <a:effectLst>
            <a:outerShdw sx="100000" sy="100000" kx="0" ky="0" algn="bl" rotWithShape="0" blurRad="101600" dist="38100" dir="2700000">
              <a:srgbClr val="0A0E2E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75504" y="16459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175504" y="16459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9784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RAG Pipeline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9784" y="32461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with citation grounding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68896" y="1417320"/>
            <a:ext cx="2057400" cy="3840480"/>
          </a:xfrm>
          <a:prstGeom prst="roundRect">
            <a:avLst>
              <a:gd name="adj" fmla="val 3556"/>
            </a:avLst>
          </a:prstGeom>
          <a:solidFill>
            <a:srgbClr val="F2F5FC"/>
          </a:solidFill>
          <a:ln/>
          <a:effectLst>
            <a:outerShdw sx="100000" sy="100000" kx="0" ky="0" algn="bl" rotWithShape="0" blurRad="101600" dist="38100" dir="2700000">
              <a:srgbClr val="0A0E2E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51776" y="16459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351776" y="16459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06056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Failure Modes &amp; Fixes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06056" y="32461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breaks, and how to fix 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45168" y="1417320"/>
            <a:ext cx="2057400" cy="3840480"/>
          </a:xfrm>
          <a:prstGeom prst="roundRect">
            <a:avLst>
              <a:gd name="adj" fmla="val 3556"/>
            </a:avLst>
          </a:prstGeom>
          <a:solidFill>
            <a:srgbClr val="F2F5FC"/>
          </a:solidFill>
          <a:ln/>
          <a:effectLst>
            <a:outerShdw sx="100000" sy="100000" kx="0" ky="0" algn="bl" rotWithShape="0" blurRad="101600" dist="38100" dir="2700000">
              <a:srgbClr val="0A0E2E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28048" y="16459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528048" y="16459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82328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Lab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82328" y="32461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a company policy Q&amp;A bot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548640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1E2761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194560" y="54864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then Session 3.2: Embeddings Demystified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3.1 — Why LLMs Need External Knowledge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3.1 — Why LLMs Need External Knowledge</dc:title>
  <dc:subject>PptxGenJS Presentation</dc:subject>
  <dc:creator>GenAI for Everyone</dc:creator>
  <cp:lastModifiedBy>GenAI for Everyone</cp:lastModifiedBy>
  <cp:revision>1</cp:revision>
  <dcterms:created xsi:type="dcterms:W3CDTF">2026-06-26T15:01:12Z</dcterms:created>
  <dcterms:modified xsi:type="dcterms:W3CDTF">2026-06-26T15:01:12Z</dcterms:modified>
</cp:coreProperties>
</file>