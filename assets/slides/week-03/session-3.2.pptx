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389120" cy="438912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3.2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Demystified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representations, semantic similarity, and cosine distance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deck-build-32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403479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38404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"find the relevant text" becomes actual, computable math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librarian who can't read a single word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EFF6F9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 has had its cover and title torn off. She can't read a word of any language. Yet hand her any book and she'll shelve it correctly, near other books on the same topic — by measuring shape, weight, page density, diagram frequency. Not content. Pattern.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93192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does almost exactly this: it converts text into numbers that capture meaning, without "reading" the way you do. Similar meaning → similar numbers.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deck-build-32/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words to numbers: a vector is just coordinates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know this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at (2, 3) on a graph is close to (2.1, 3.2)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far from (50, -30).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numbers. A position in space.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88720" y="4023360"/>
            <a:ext cx="4023360" cy="18288"/>
          </a:xfrm>
          <a:prstGeom prst="rect">
            <a:avLst/>
          </a:prstGeom>
          <a:solidFill>
            <a:srgbClr val="D5E3E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2062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A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3)  →  a point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A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(2.1, 3.2)  →  a nearby point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A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(50, -30)  →  a distant point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1691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embedding is the same idea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2194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instead of 2 numbers describing a point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physical space, it uses hundreds of numbers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a point in MEANING space.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0" y="3794760"/>
            <a:ext cx="4572000" cy="18288"/>
          </a:xfrm>
          <a:prstGeom prst="rect">
            <a:avLst/>
          </a:prstGeom>
          <a:solidFill>
            <a:srgbClr val="3A5570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39776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 on the mat"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feline rested on the rug"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nearby vectors (similar meaning)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 on the mat"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"Quarterly earnings rose 4%"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distant vectors (different meaning)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leap beyond matching keywords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FF6F9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deck-build-32/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556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45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matching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"how do I get reimbursed for travel"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"Expense Submission Procedures"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literal word overlap → keyword search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nothing, even though the document is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the person needs.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45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deck-build-32/icons/grap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7556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(embedding) search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37744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 and document — but compared by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not literal words.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related concepts land as nearby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despite almost no shared vocabulary.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succeeds.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deck-build-32/icons/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closeness: cosine similarity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arrows from the same point. The question: how aligned is their DIRECTION? (Length doesn't matter.)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502152" cy="3383280"/>
          </a:xfrm>
          <a:prstGeom prst="roundRect">
            <a:avLst>
              <a:gd name="adj" fmla="val 2162"/>
            </a:avLst>
          </a:prstGeom>
          <a:solidFill>
            <a:srgbClr val="1B2A5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377440"/>
            <a:ext cx="3502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direction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 similar meaning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06824" y="2103120"/>
            <a:ext cx="3502152" cy="3383280"/>
          </a:xfrm>
          <a:prstGeom prst="roundRect">
            <a:avLst>
              <a:gd name="adj" fmla="val 2162"/>
            </a:avLst>
          </a:prstGeom>
          <a:solidFill>
            <a:srgbClr val="1B2A52"/>
          </a:solidFill>
          <a:ln/>
        </p:spPr>
      </p:sp>
      <p:sp>
        <p:nvSpPr>
          <p:cNvPr id="11" name="Text 8"/>
          <p:cNvSpPr/>
          <p:nvPr/>
        </p:nvSpPr>
        <p:spPr>
          <a:xfrm>
            <a:off x="4306824" y="2377440"/>
            <a:ext cx="3502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4489704" y="365760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angle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81144" y="4206240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unrelated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73568" y="2103120"/>
            <a:ext cx="3502152" cy="3383280"/>
          </a:xfrm>
          <a:prstGeom prst="roundRect">
            <a:avLst>
              <a:gd name="adj" fmla="val 2162"/>
            </a:avLst>
          </a:prstGeom>
          <a:solidFill>
            <a:srgbClr val="1B2A52"/>
          </a:solidFill>
          <a:ln/>
        </p:spPr>
      </p:sp>
      <p:sp>
        <p:nvSpPr>
          <p:cNvPr id="15" name="Text 12"/>
          <p:cNvSpPr/>
          <p:nvPr/>
        </p:nvSpPr>
        <p:spPr>
          <a:xfrm>
            <a:off x="7973568" y="2377440"/>
            <a:ext cx="3502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</a:t>
            </a:r>
            <a:endParaRPr lang="en-US" sz="5000" dirty="0"/>
          </a:p>
        </p:txBody>
      </p:sp>
      <p:sp>
        <p:nvSpPr>
          <p:cNvPr id="16" name="Text 13"/>
          <p:cNvSpPr/>
          <p:nvPr/>
        </p:nvSpPr>
        <p:spPr>
          <a:xfrm>
            <a:off x="8156448" y="365760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Opposite direction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47888" y="4206240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E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 dissimilar (rare in practice)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5715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real text mostly scores 0.1–0.95 — there's no universal "similar enough" cutoff.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deck-build-32/icons/cal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914400" y="1645920"/>
            <a:ext cx="10332720" cy="1280160"/>
          </a:xfrm>
          <a:prstGeom prst="roundRect">
            <a:avLst>
              <a:gd name="adj" fmla="val 7143"/>
            </a:avLst>
          </a:prstGeom>
          <a:solidFill>
            <a:srgbClr val="EFF6F9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cosine_similarity(A, B) = (A · B) / (|A| × |B|)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645920" y="3246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1645920" y="3246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40480" y="324612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— multiply matching components, then sum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645920" y="420624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0" y="42062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|A|, |B|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40480" y="42062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length (norm) — square root of sum of squared components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645920" y="55778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matters more than magnitude for text meaning — which is exactly what this formula isolates.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deck-build-32/icons/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example, by hand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50215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554480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adopted a puppy"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(4, 3)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0215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34840" y="1554480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got a new dog"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34840" y="2057400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(5, 2)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1463040"/>
            <a:ext cx="350215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92440" y="1554480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"Stock prices fell"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92440" y="2057400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(-2, 4)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0080" y="292608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1F9D6B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063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Puppy vs. dog sentence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35204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 product: (4×5)+(3×2) = 26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|A| = √25 = 5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|B| = √29 ≈ 5.39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= 26 / (5×5.39) ≈ 0.97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263640" y="292608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B23B3B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3063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Puppy vs. stock-market sentence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37960" y="35204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 product: (4×-2)+(3×4) = 4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|A| = 5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|B| = √20 ≈ 4.47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= 4 / (5×4.47) ≈ 0.18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deck-build-32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artifact: 20 sentences, 2D, real output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6675120" cy="4892040"/>
          </a:xfrm>
          <a:prstGeom prst="roundRect">
            <a:avLst>
              <a:gd name="adj" fmla="val 1121"/>
            </a:avLst>
          </a:prstGeom>
          <a:solidFill>
            <a:srgbClr val="EFF6F9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pic>
        <p:nvPicPr>
          <p:cNvPr id="6" name="Image 1" descr="/home/claude/deck-build-32/embeddings_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6217920" cy="43525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80960" y="1554480"/>
            <a:ext cx="274320" cy="274320"/>
          </a:xfrm>
          <a:prstGeom prst="ellipse">
            <a:avLst/>
          </a:prstGeom>
          <a:solidFill>
            <a:srgbClr val="D17A22"/>
          </a:solidFill>
          <a:ln/>
        </p:spPr>
      </p:sp>
      <p:sp>
        <p:nvSpPr>
          <p:cNvPr id="8" name="Text 4"/>
          <p:cNvSpPr/>
          <p:nvPr/>
        </p:nvSpPr>
        <p:spPr>
          <a:xfrm>
            <a:off x="8092440" y="14904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680960" y="2057400"/>
            <a:ext cx="274320" cy="27432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6"/>
          <p:cNvSpPr/>
          <p:nvPr/>
        </p:nvSpPr>
        <p:spPr>
          <a:xfrm>
            <a:off x="8092440" y="1993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680960" y="25603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8092440" y="24963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680960" y="3063240"/>
            <a:ext cx="274320" cy="274320"/>
          </a:xfrm>
          <a:prstGeom prst="ellipse">
            <a:avLst/>
          </a:prstGeom>
          <a:solidFill>
            <a:srgbClr val="7B2D8E"/>
          </a:solidFill>
          <a:ln/>
        </p:spPr>
      </p:sp>
      <p:sp>
        <p:nvSpPr>
          <p:cNvPr id="14" name="Text 10"/>
          <p:cNvSpPr/>
          <p:nvPr/>
        </p:nvSpPr>
        <p:spPr>
          <a:xfrm>
            <a:off x="8092440" y="29992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680960" y="365760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/>
          <p:nvPr/>
        </p:nvSpPr>
        <p:spPr>
          <a:xfrm>
            <a:off x="7909560" y="3657600"/>
            <a:ext cx="33832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tight, distinct clusters — emerging from vectors built from the sentences' own words, then reduced to 2D and plotted with the math from this session.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deck-build-32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note on today's toy embedding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1B2A5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916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word counts: barely any clustering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0" y="169164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short sentences share almost no literal vocabulary, even within the same topic — not enough raw text for statistics alone.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1B2A5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2004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fix: hand-seeded "concept anchors"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0" y="320040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topic-word list stands in for what a real model learns automatically — engineered help, not emergent discovery.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457200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1B2A52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0916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embedding models don't need the help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29200" y="470916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billions of words, they learn "puppy" and "canine" are related with no hand-built list, no labels, at all.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the engine. Next, it goes in a car.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exercise didn't organize a large document set, didn't chunk long documents, and didn't retrieve anything for a live query. That's Session 3.3.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EFF6F9"/>
          </a:solidFill>
          <a:ln/>
          <a:effectLst>
            <a:outerShdw sx="100000" sy="100000" kx="0" ky="0" algn="bl" rotWithShape="0" blurRad="101600" dist="38100" dir="2700000">
              <a:srgbClr val="0A1A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deck-build-32/icons/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4197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860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3.3 — Vector Databases &amp; Retrieval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 for splitting long documents into sensible pieces, vector stores for holding embeddings at real scale, and top-k retrieval for actually pulling back the most relevant matches to a live question.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297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artifact: build a local vector store over a real PDF.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94560" y="548640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86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then Session 3.3: Vector Databases &amp; Retrieval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— Embeddings Demystified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3.2 — Embeddings Demystified</dc:title>
  <dc:subject>PptxGenJS Presentation</dc:subject>
  <dc:creator>GenAI for Everyone</dc:creator>
  <cp:lastModifiedBy>GenAI for Everyone</cp:lastModifiedBy>
  <cp:revision>1</cp:revision>
  <dcterms:created xsi:type="dcterms:W3CDTF">2026-06-26T16:42:40Z</dcterms:created>
  <dcterms:modified xsi:type="dcterms:W3CDTF">2026-06-26T16:42:40Z</dcterms:modified>
</cp:coreProperties>
</file>