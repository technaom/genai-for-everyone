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1.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640080"/>
            <a:ext cx="5486400" cy="365760"/>
          </a:xfrm>
          <a:prstGeom prst="rect">
            <a:avLst/>
          </a:prstGeom>
          <a:noFill/>
          <a:ln/>
        </p:spPr>
        <p:txBody>
          <a:bodyPr wrap="square" rtlCol="0" anchor="ctr"/>
          <a:lstStyle/>
          <a:p>
            <a:pPr indent="0" marL="0">
              <a:buNone/>
            </a:pPr>
            <a:r>
              <a:rPr lang="en-US" sz="1400" b="1" spc="300" kern="0" dirty="0">
                <a:solidFill>
                  <a:srgbClr val="F9E795"/>
                </a:solidFill>
                <a:latin typeface="Calibri" pitchFamily="34" charset="0"/>
                <a:ea typeface="Calibri" pitchFamily="34" charset="-122"/>
                <a:cs typeface="Calibri" pitchFamily="34" charset="-120"/>
              </a:rPr>
              <a:t>WEEK 1 · SESSION 1.1</a:t>
            </a:r>
            <a:endParaRPr lang="en-US" sz="1400" dirty="0"/>
          </a:p>
        </p:txBody>
      </p:sp>
      <p:sp>
        <p:nvSpPr>
          <p:cNvPr id="3" name="Text 1"/>
          <p:cNvSpPr/>
          <p:nvPr/>
        </p:nvSpPr>
        <p:spPr>
          <a:xfrm>
            <a:off x="640080" y="1280160"/>
            <a:ext cx="8686800" cy="2194560"/>
          </a:xfrm>
          <a:prstGeom prst="rect">
            <a:avLst/>
          </a:prstGeom>
          <a:noFill/>
          <a:ln/>
        </p:spPr>
        <p:txBody>
          <a:bodyPr wrap="square" rtlCol="0" anchor="ctr"/>
          <a:lstStyle/>
          <a:p>
            <a:pPr indent="0" marL="0">
              <a:lnSpc>
                <a:spcPct val="110000"/>
              </a:lnSpc>
              <a:buNone/>
            </a:pPr>
            <a:r>
              <a:rPr lang="en-US" sz="4400" b="1" dirty="0">
                <a:solidFill>
                  <a:srgbClr val="FFFFFF"/>
                </a:solidFill>
                <a:latin typeface="Cambria" pitchFamily="34" charset="0"/>
                <a:ea typeface="Cambria" pitchFamily="34" charset="-122"/>
                <a:cs typeface="Cambria" pitchFamily="34" charset="-120"/>
              </a:rPr>
              <a:t>What GenAI Actually Is</a:t>
            </a:r>
            <a:endParaRPr lang="en-US" sz="4400" dirty="0"/>
          </a:p>
          <a:p>
            <a:pPr indent="0" marL="0">
              <a:lnSpc>
                <a:spcPct val="110000"/>
              </a:lnSpc>
              <a:buNone/>
            </a:pPr>
            <a:r>
              <a:rPr lang="en-US" sz="4400" b="1" dirty="0">
                <a:solidFill>
                  <a:srgbClr val="FFFFFF"/>
                </a:solidFill>
                <a:latin typeface="Cambria" pitchFamily="34" charset="0"/>
                <a:ea typeface="Cambria" pitchFamily="34" charset="-122"/>
                <a:cs typeface="Cambria" pitchFamily="34" charset="-120"/>
              </a:rPr>
              <a:t>(and Isn't)</a:t>
            </a:r>
            <a:endParaRPr lang="en-US" sz="4400" dirty="0"/>
          </a:p>
        </p:txBody>
      </p:sp>
      <p:sp>
        <p:nvSpPr>
          <p:cNvPr id="4" name="Text 2"/>
          <p:cNvSpPr/>
          <p:nvPr/>
        </p:nvSpPr>
        <p:spPr>
          <a:xfrm>
            <a:off x="640080" y="3520440"/>
            <a:ext cx="7772400" cy="54864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Killing the myths before we build anything real.</a:t>
            </a:r>
            <a:endParaRPr lang="en-US" sz="1800" dirty="0"/>
          </a:p>
        </p:txBody>
      </p:sp>
      <p:sp>
        <p:nvSpPr>
          <p:cNvPr id="5" name="Shape 3"/>
          <p:cNvSpPr/>
          <p:nvPr/>
        </p:nvSpPr>
        <p:spPr>
          <a:xfrm>
            <a:off x="8778240" y="3931920"/>
            <a:ext cx="1920240" cy="1920240"/>
          </a:xfrm>
          <a:prstGeom prst="ellipse">
            <a:avLst/>
          </a:prstGeom>
          <a:solidFill>
            <a:srgbClr val="CADCFC">
              <a:alpha val="15000"/>
            </a:srgbClr>
          </a:solidFill>
          <a:ln w="19050">
            <a:solidFill>
              <a:srgbClr val="CADCFC"/>
            </a:solidFill>
            <a:prstDash val="solid"/>
          </a:ln>
        </p:spPr>
      </p:sp>
      <p:pic>
        <p:nvPicPr>
          <p:cNvPr id="6" name="Image 0" descr="icon_brain_white.png">    </p:cNvPr>
          <p:cNvPicPr>
            <a:picLocks noChangeAspect="1"/>
          </p:cNvPicPr>
          <p:nvPr/>
        </p:nvPicPr>
        <p:blipFill>
          <a:blip r:embed="rId1"/>
          <a:stretch>
            <a:fillRect/>
          </a:stretch>
        </p:blipFill>
        <p:spPr>
          <a:xfrm>
            <a:off x="9372600" y="4526280"/>
            <a:ext cx="731520" cy="731520"/>
          </a:xfrm>
          <a:prstGeom prst="rect">
            <a:avLst/>
          </a:prstGeom>
        </p:spPr>
      </p:pic>
      <p:sp>
        <p:nvSpPr>
          <p:cNvPr id="7" name="Shape 4"/>
          <p:cNvSpPr/>
          <p:nvPr/>
        </p:nvSpPr>
        <p:spPr>
          <a:xfrm>
            <a:off x="10058400" y="5029200"/>
            <a:ext cx="1371600" cy="1371600"/>
          </a:xfrm>
          <a:prstGeom prst="ellipse">
            <a:avLst/>
          </a:prstGeom>
          <a:solidFill>
            <a:srgbClr val="F96167">
              <a:alpha val="90000"/>
            </a:srgbClr>
          </a:solidFill>
          <a:ln/>
        </p:spPr>
      </p:sp>
      <p:pic>
        <p:nvPicPr>
          <p:cNvPr id="8" name="Image 1" descr="icon_magic_white.png">    </p:cNvPr>
          <p:cNvPicPr>
            <a:picLocks noChangeAspect="1"/>
          </p:cNvPicPr>
          <p:nvPr/>
        </p:nvPicPr>
        <p:blipFill>
          <a:blip r:embed="rId2"/>
          <a:stretch>
            <a:fillRect/>
          </a:stretch>
        </p:blipFill>
        <p:spPr>
          <a:xfrm>
            <a:off x="10424160" y="5394960"/>
            <a:ext cx="640080" cy="640080"/>
          </a:xfrm>
          <a:prstGeom prst="rect">
            <a:avLst/>
          </a:prstGeom>
        </p:spPr>
      </p:pic>
      <p:sp>
        <p:nvSpPr>
          <p:cNvPr id="9" name="Text 5"/>
          <p:cNvSpPr/>
          <p:nvPr/>
        </p:nvSpPr>
        <p:spPr>
          <a:xfrm>
            <a:off x="640080" y="6309360"/>
            <a:ext cx="8229600" cy="365760"/>
          </a:xfrm>
          <a:prstGeom prst="rect">
            <a:avLst/>
          </a:prstGeom>
          <a:noFill/>
          <a:ln/>
        </p:spPr>
        <p:txBody>
          <a:bodyPr wrap="square" rtlCol="0" anchor="ctr"/>
          <a:lstStyle/>
          <a:p>
            <a:pPr indent="0" marL="0">
              <a:buNone/>
            </a:pPr>
            <a:r>
              <a:rPr lang="en-US" sz="1100" dirty="0">
                <a:solidFill>
                  <a:srgbClr val="6B7394"/>
                </a:solidFill>
                <a:latin typeface="Calibri" pitchFamily="34" charset="0"/>
                <a:ea typeface="Calibri" pitchFamily="34" charset="-122"/>
                <a:cs typeface="Calibri" pitchFamily="34" charset="-120"/>
              </a:rPr>
              <a:t>GenAI for Everyone  ·  Week 1: Foundations of GenAI &amp; LLMs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937760" y="457200"/>
            <a:ext cx="2286000" cy="2286000"/>
          </a:xfrm>
          <a:prstGeom prst="ellipse">
            <a:avLst/>
          </a:prstGeom>
          <a:solidFill>
            <a:srgbClr val="1E2761"/>
          </a:solidFill>
          <a:ln/>
          <a:effectLst>
            <a:outerShdw sx="100000" sy="100000" kx="0" ky="0" algn="bl" rotWithShape="0" blurRad="101600" dist="38100" dir="2700000">
              <a:srgbClr val="000000">
                <a:alpha val="15000"/>
              </a:srgbClr>
            </a:outerShdw>
          </a:effectLst>
        </p:spPr>
      </p:sp>
      <p:pic>
        <p:nvPicPr>
          <p:cNvPr id="3" name="Image 0" descr="icon_question_white.png">    </p:cNvPr>
          <p:cNvPicPr>
            <a:picLocks noChangeAspect="1"/>
          </p:cNvPicPr>
          <p:nvPr/>
        </p:nvPicPr>
        <p:blipFill>
          <a:blip r:embed="rId1"/>
          <a:stretch>
            <a:fillRect/>
          </a:stretch>
        </p:blipFill>
        <p:spPr>
          <a:xfrm>
            <a:off x="5623560" y="1143000"/>
            <a:ext cx="914400" cy="914400"/>
          </a:xfrm>
          <a:prstGeom prst="rect">
            <a:avLst/>
          </a:prstGeom>
        </p:spPr>
      </p:pic>
      <p:sp>
        <p:nvSpPr>
          <p:cNvPr id="4" name="Text 1"/>
          <p:cNvSpPr/>
          <p:nvPr/>
        </p:nvSpPr>
        <p:spPr>
          <a:xfrm>
            <a:off x="914400" y="3108960"/>
            <a:ext cx="10332720" cy="548640"/>
          </a:xfrm>
          <a:prstGeom prst="rect">
            <a:avLst/>
          </a:prstGeom>
          <a:noFill/>
          <a:ln/>
        </p:spPr>
        <p:txBody>
          <a:bodyPr wrap="square" rtlCol="0" anchor="ctr"/>
          <a:lstStyle/>
          <a:p>
            <a:pPr algn="ctr" indent="0" marL="0">
              <a:buNone/>
            </a:pPr>
            <a:r>
              <a:rPr lang="en-US" sz="2000" dirty="0">
                <a:solidFill>
                  <a:srgbClr val="6B7394"/>
                </a:solidFill>
                <a:latin typeface="Calibri" pitchFamily="34" charset="0"/>
                <a:ea typeface="Calibri" pitchFamily="34" charset="-122"/>
                <a:cs typeface="Calibri" pitchFamily="34" charset="-120"/>
              </a:rPr>
              <a:t>If I asked you right now:</a:t>
            </a:r>
            <a:endParaRPr lang="en-US" sz="2000" dirty="0"/>
          </a:p>
        </p:txBody>
      </p:sp>
      <p:sp>
        <p:nvSpPr>
          <p:cNvPr id="5" name="Text 2"/>
          <p:cNvSpPr/>
          <p:nvPr/>
        </p:nvSpPr>
        <p:spPr>
          <a:xfrm>
            <a:off x="914400" y="3657600"/>
            <a:ext cx="10332720" cy="1005840"/>
          </a:xfrm>
          <a:prstGeom prst="rect">
            <a:avLst/>
          </a:prstGeom>
          <a:noFill/>
          <a:ln/>
        </p:spPr>
        <p:txBody>
          <a:bodyPr wrap="square" rtlCol="0" anchor="ctr"/>
          <a:lstStyle/>
          <a:p>
            <a:pPr algn="ctr" indent="0" marL="0">
              <a:buNone/>
            </a:pPr>
            <a:r>
              <a:rPr lang="en-US" sz="4000" b="1" i="1" dirty="0">
                <a:solidFill>
                  <a:srgbClr val="1E2761"/>
                </a:solidFill>
                <a:latin typeface="Cambria" pitchFamily="34" charset="0"/>
                <a:ea typeface="Cambria" pitchFamily="34" charset="-122"/>
                <a:cs typeface="Cambria" pitchFamily="34" charset="-120"/>
              </a:rPr>
              <a:t>"What is AI?"</a:t>
            </a:r>
            <a:endParaRPr lang="en-US" sz="4000" dirty="0"/>
          </a:p>
        </p:txBody>
      </p:sp>
      <p:sp>
        <p:nvSpPr>
          <p:cNvPr id="6" name="Text 3"/>
          <p:cNvSpPr/>
          <p:nvPr/>
        </p:nvSpPr>
        <p:spPr>
          <a:xfrm>
            <a:off x="1645920" y="4846320"/>
            <a:ext cx="8869680" cy="1280160"/>
          </a:xfrm>
          <a:prstGeom prst="rect">
            <a:avLst/>
          </a:prstGeom>
          <a:noFill/>
          <a:ln/>
        </p:spPr>
        <p:txBody>
          <a:bodyPr wrap="square" rtlCol="0" anchor="ctr"/>
          <a:lstStyle/>
          <a:p>
            <a:pPr algn="ctr" indent="0" marL="0">
              <a:lnSpc>
                <a:spcPct val="130000"/>
              </a:lnSpc>
              <a:buNone/>
            </a:pPr>
            <a:r>
              <a:rPr lang="en-US" sz="1500" dirty="0">
                <a:solidFill>
                  <a:srgbClr val="1A1A2E"/>
                </a:solidFill>
                <a:latin typeface="Calibri" pitchFamily="34" charset="0"/>
                <a:ea typeface="Calibri" pitchFamily="34" charset="-122"/>
                <a:cs typeface="Calibri" pitchFamily="34" charset="-120"/>
              </a:rPr>
              <a:t>Most answers sound like “a computer that thinks” or “something that's going to replace us.”</a:t>
            </a:r>
            <a:endParaRPr lang="en-US" sz="1500" dirty="0"/>
          </a:p>
          <a:p>
            <a:pPr algn="ctr" indent="0" marL="0">
              <a:lnSpc>
                <a:spcPct val="130000"/>
              </a:lnSpc>
              <a:buNone/>
            </a:pPr>
            <a:r>
              <a:rPr lang="en-US" sz="1500" dirty="0">
                <a:solidFill>
                  <a:srgbClr val="1A1A2E"/>
                </a:solidFill>
                <a:latin typeface="Calibri" pitchFamily="34" charset="0"/>
                <a:ea typeface="Calibri" pitchFamily="34" charset="-122"/>
                <a:cs typeface="Calibri" pitchFamily="34" charset="-120"/>
              </a:rPr>
              <a:t>Neither tells you what to actually expect from the tool in your hand.</a:t>
            </a:r>
            <a:endParaRPr lang="en-US" sz="1500" dirty="0"/>
          </a:p>
          <a:p>
            <a:pPr algn="ctr" indent="0" marL="0">
              <a:lnSpc>
                <a:spcPct val="130000"/>
              </a:lnSpc>
              <a:buNone/>
            </a:pPr>
            <a:r>
              <a:rPr lang="en-US" sz="1500" dirty="0">
                <a:solidFill>
                  <a:srgbClr val="1A1A2E"/>
                </a:solidFill>
                <a:latin typeface="Calibri" pitchFamily="34" charset="0"/>
                <a:ea typeface="Calibri" pitchFamily="34" charset="-122"/>
                <a:cs typeface="Calibri" pitchFamily="34" charset="-120"/>
              </a:rPr>
              <a:t>Let's fix that — properly — in the next hour.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51560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There are really just TWO kinds of AI</a:t>
            </a:r>
            <a:endParaRPr lang="en-US" sz="3000" dirty="0"/>
          </a:p>
        </p:txBody>
      </p:sp>
      <p:sp>
        <p:nvSpPr>
          <p:cNvPr id="3" name="Text 1"/>
          <p:cNvSpPr/>
          <p:nvPr/>
        </p:nvSpPr>
        <p:spPr>
          <a:xfrm>
            <a:off x="640080" y="1051560"/>
            <a:ext cx="10058400" cy="457200"/>
          </a:xfrm>
          <a:prstGeom prst="rect">
            <a:avLst/>
          </a:prstGeom>
          <a:noFill/>
          <a:ln/>
        </p:spPr>
        <p:txBody>
          <a:bodyPr wrap="square" rtlCol="0" anchor="ctr"/>
          <a:lstStyle/>
          <a:p>
            <a:pPr indent="0" marL="0">
              <a:buNone/>
            </a:pPr>
            <a:r>
              <a:rPr lang="en-US" sz="1400" i="1" dirty="0">
                <a:solidFill>
                  <a:srgbClr val="6B7394"/>
                </a:solidFill>
                <a:latin typeface="Calibri" pitchFamily="34" charset="0"/>
                <a:ea typeface="Calibri" pitchFamily="34" charset="-122"/>
                <a:cs typeface="Calibri" pitchFamily="34" charset="-120"/>
              </a:rPr>
              <a:t>Everything you'll hear this program collapses into one of these two buckets.</a:t>
            </a:r>
            <a:endParaRPr lang="en-US" sz="1400" dirty="0"/>
          </a:p>
        </p:txBody>
      </p:sp>
      <p:sp>
        <p:nvSpPr>
          <p:cNvPr id="4" name="Shape 2"/>
          <p:cNvSpPr/>
          <p:nvPr/>
        </p:nvSpPr>
        <p:spPr>
          <a:xfrm>
            <a:off x="640080" y="1783080"/>
            <a:ext cx="5120640" cy="4206240"/>
          </a:xfrm>
          <a:prstGeom prst="roundRect">
            <a:avLst>
              <a:gd name="adj" fmla="val 2609"/>
            </a:avLst>
          </a:prstGeom>
          <a:solidFill>
            <a:srgbClr val="CADCFC">
              <a:alpha val="40000"/>
            </a:srgbClr>
          </a:solidFill>
          <a:ln/>
          <a:effectLst>
            <a:outerShdw sx="100000" sy="100000" kx="0" ky="0" algn="bl" rotWithShape="0" blurRad="101600" dist="38100" dir="2700000">
              <a:srgbClr val="000000">
                <a:alpha val="15000"/>
              </a:srgbClr>
            </a:outerShdw>
          </a:effectLst>
        </p:spPr>
      </p:sp>
      <p:sp>
        <p:nvSpPr>
          <p:cNvPr id="5" name="Shape 3"/>
          <p:cNvSpPr/>
          <p:nvPr/>
        </p:nvSpPr>
        <p:spPr>
          <a:xfrm>
            <a:off x="1005840" y="2148840"/>
            <a:ext cx="914400" cy="914400"/>
          </a:xfrm>
          <a:prstGeom prst="ellipse">
            <a:avLst/>
          </a:prstGeom>
          <a:solidFill>
            <a:srgbClr val="1E2761"/>
          </a:solidFill>
          <a:ln/>
        </p:spPr>
      </p:sp>
      <p:pic>
        <p:nvPicPr>
          <p:cNvPr id="6" name="Image 0" descr="icon_chart_white.png">    </p:cNvPr>
          <p:cNvPicPr>
            <a:picLocks noChangeAspect="1"/>
          </p:cNvPicPr>
          <p:nvPr/>
        </p:nvPicPr>
        <p:blipFill>
          <a:blip r:embed="rId1"/>
          <a:stretch>
            <a:fillRect/>
          </a:stretch>
        </p:blipFill>
        <p:spPr>
          <a:xfrm>
            <a:off x="1207008" y="2377440"/>
            <a:ext cx="457200" cy="457200"/>
          </a:xfrm>
          <a:prstGeom prst="rect">
            <a:avLst/>
          </a:prstGeom>
        </p:spPr>
      </p:pic>
      <p:sp>
        <p:nvSpPr>
          <p:cNvPr id="7" name="Text 4"/>
          <p:cNvSpPr/>
          <p:nvPr/>
        </p:nvSpPr>
        <p:spPr>
          <a:xfrm>
            <a:off x="2103120" y="2148840"/>
            <a:ext cx="3474720" cy="457200"/>
          </a:xfrm>
          <a:prstGeom prst="rect">
            <a:avLst/>
          </a:prstGeom>
          <a:noFill/>
          <a:ln/>
        </p:spPr>
        <p:txBody>
          <a:bodyPr wrap="square" rtlCol="0" anchor="ctr"/>
          <a:lstStyle/>
          <a:p>
            <a:pPr indent="0" marL="0">
              <a:buNone/>
            </a:pPr>
            <a:r>
              <a:rPr lang="en-US" sz="1600" b="1" spc="200" kern="0" dirty="0">
                <a:solidFill>
                  <a:srgbClr val="1E2761"/>
                </a:solidFill>
                <a:latin typeface="Calibri" pitchFamily="34" charset="0"/>
                <a:ea typeface="Calibri" pitchFamily="34" charset="-122"/>
                <a:cs typeface="Calibri" pitchFamily="34" charset="-120"/>
              </a:rPr>
              <a:t>PREDICTIVE AI</a:t>
            </a:r>
            <a:endParaRPr lang="en-US" sz="1600" dirty="0"/>
          </a:p>
        </p:txBody>
      </p:sp>
      <p:sp>
        <p:nvSpPr>
          <p:cNvPr id="8" name="Text 5"/>
          <p:cNvSpPr/>
          <p:nvPr/>
        </p:nvSpPr>
        <p:spPr>
          <a:xfrm>
            <a:off x="2103120" y="2560320"/>
            <a:ext cx="3474720" cy="548640"/>
          </a:xfrm>
          <a:prstGeom prst="rect">
            <a:avLst/>
          </a:prstGeom>
          <a:noFill/>
          <a:ln/>
        </p:spPr>
        <p:txBody>
          <a:bodyPr wrap="square" rtlCol="0" anchor="ctr"/>
          <a:lstStyle/>
          <a:p>
            <a:pPr indent="0" marL="0">
              <a:buNone/>
            </a:pPr>
            <a:r>
              <a:rPr lang="en-US" sz="1200" i="1" dirty="0">
                <a:solidFill>
                  <a:srgbClr val="1A1A2E"/>
                </a:solidFill>
                <a:latin typeface="Calibri" pitchFamily="34" charset="0"/>
                <a:ea typeface="Calibri" pitchFamily="34" charset="-122"/>
                <a:cs typeface="Calibri" pitchFamily="34" charset="-120"/>
              </a:rPr>
              <a:t>Picks a label, score, or category from existing options.</a:t>
            </a:r>
            <a:endParaRPr lang="en-US" sz="1200" dirty="0"/>
          </a:p>
        </p:txBody>
      </p:sp>
      <p:sp>
        <p:nvSpPr>
          <p:cNvPr id="9" name="Text 6"/>
          <p:cNvSpPr/>
          <p:nvPr/>
        </p:nvSpPr>
        <p:spPr>
          <a:xfrm>
            <a:off x="1005840" y="3246120"/>
            <a:ext cx="4389120" cy="1645920"/>
          </a:xfrm>
          <a:prstGeom prst="rect">
            <a:avLst/>
          </a:prstGeom>
          <a:noFill/>
          <a:ln/>
        </p:spPr>
        <p:txBody>
          <a:bodyPr wrap="square" rtlCol="0" anchor="ctr"/>
          <a:lstStyle/>
          <a:p>
            <a:pPr marL="342900" indent="-342900">
              <a:lnSpc>
                <a:spcPct val="110000"/>
              </a:lnSpc>
              <a:spcAft>
                <a:spcPts val="1000"/>
              </a:spcAft>
              <a:buSzPct val="100000"/>
              <a:buChar char="•"/>
            </a:pPr>
            <a:r>
              <a:rPr lang="en-US" sz="1400" dirty="0">
                <a:solidFill>
                  <a:srgbClr val="1A1A2E"/>
                </a:solidFill>
                <a:latin typeface="Calibri" pitchFamily="34" charset="0"/>
                <a:ea typeface="Calibri" pitchFamily="34" charset="-122"/>
                <a:cs typeface="Calibri" pitchFamily="34" charset="-120"/>
              </a:rPr>
              <a:t>Is this email spam?</a:t>
            </a:r>
            <a:endParaRPr lang="en-US" sz="1400" dirty="0"/>
          </a:p>
          <a:p>
            <a:pPr marL="342900" indent="-342900">
              <a:lnSpc>
                <a:spcPct val="110000"/>
              </a:lnSpc>
              <a:spcAft>
                <a:spcPts val="1000"/>
              </a:spcAft>
              <a:buSzPct val="100000"/>
              <a:buChar char="•"/>
            </a:pPr>
            <a:r>
              <a:rPr lang="en-US" sz="1400" dirty="0">
                <a:solidFill>
                  <a:srgbClr val="1A1A2E"/>
                </a:solidFill>
                <a:latin typeface="Calibri" pitchFamily="34" charset="0"/>
                <a:ea typeface="Calibri" pitchFamily="34" charset="-122"/>
                <a:cs typeface="Calibri" pitchFamily="34" charset="-120"/>
              </a:rPr>
              <a:t>Will this customer cancel?</a:t>
            </a:r>
            <a:endParaRPr lang="en-US" sz="1400" dirty="0"/>
          </a:p>
          <a:p>
            <a:pPr marL="342900" indent="-342900">
              <a:lnSpc>
                <a:spcPct val="110000"/>
              </a:lnSpc>
              <a:spcAft>
                <a:spcPts val="1000"/>
              </a:spcAft>
              <a:buSzPct val="100000"/>
              <a:buChar char="•"/>
            </a:pPr>
            <a:r>
              <a:rPr lang="en-US" sz="1400" dirty="0">
                <a:solidFill>
                  <a:srgbClr val="1A1A2E"/>
                </a:solidFill>
                <a:latin typeface="Calibri" pitchFamily="34" charset="0"/>
                <a:ea typeface="Calibri" pitchFamily="34" charset="-122"/>
                <a:cs typeface="Calibri" pitchFamily="34" charset="-120"/>
              </a:rPr>
              <a:t>Is this transaction fraud?</a:t>
            </a:r>
            <a:endParaRPr lang="en-US" sz="1400" dirty="0"/>
          </a:p>
          <a:p>
            <a:pPr marL="342900" indent="-342900">
              <a:lnSpc>
                <a:spcPct val="110000"/>
              </a:lnSpc>
              <a:spcAft>
                <a:spcPts val="1000"/>
              </a:spcAft>
              <a:buSzPct val="100000"/>
              <a:buChar char="•"/>
            </a:pPr>
            <a:r>
              <a:rPr lang="en-US" sz="1400" dirty="0">
                <a:solidFill>
                  <a:srgbClr val="1A1A2E"/>
                </a:solidFill>
                <a:latin typeface="Calibri" pitchFamily="34" charset="0"/>
                <a:ea typeface="Calibri" pitchFamily="34" charset="-122"/>
                <a:cs typeface="Calibri" pitchFamily="34" charset="-120"/>
              </a:rPr>
              <a:t>What show will they like next?</a:t>
            </a:r>
            <a:endParaRPr lang="en-US" sz="1400" dirty="0"/>
          </a:p>
        </p:txBody>
      </p:sp>
      <p:sp>
        <p:nvSpPr>
          <p:cNvPr id="10" name="Text 7"/>
          <p:cNvSpPr/>
          <p:nvPr/>
        </p:nvSpPr>
        <p:spPr>
          <a:xfrm>
            <a:off x="1005840" y="5074920"/>
            <a:ext cx="4389120" cy="731520"/>
          </a:xfrm>
          <a:prstGeom prst="rect">
            <a:avLst/>
          </a:prstGeom>
          <a:noFill/>
          <a:ln/>
        </p:spPr>
        <p:txBody>
          <a:bodyPr wrap="square" rtlCol="0" anchor="ctr"/>
          <a:lstStyle/>
          <a:p>
            <a:pPr indent="0" marL="0">
              <a:buNone/>
            </a:pPr>
            <a:r>
              <a:rPr lang="en-US" sz="1200" i="1" dirty="0">
                <a:solidFill>
                  <a:srgbClr val="6B7394"/>
                </a:solidFill>
                <a:latin typeface="Calibri" pitchFamily="34" charset="0"/>
                <a:ea typeface="Calibri" pitchFamily="34" charset="-122"/>
                <a:cs typeface="Calibri" pitchFamily="34" charset="-120"/>
              </a:rPr>
              <a:t>Been quietly running in production for over a decade.</a:t>
            </a:r>
            <a:endParaRPr lang="en-US" sz="1200" dirty="0"/>
          </a:p>
        </p:txBody>
      </p:sp>
      <p:sp>
        <p:nvSpPr>
          <p:cNvPr id="11" name="Shape 8"/>
          <p:cNvSpPr/>
          <p:nvPr/>
        </p:nvSpPr>
        <p:spPr>
          <a:xfrm>
            <a:off x="6035040" y="1783080"/>
            <a:ext cx="5120640" cy="4206240"/>
          </a:xfrm>
          <a:prstGeom prst="roundRect">
            <a:avLst>
              <a:gd name="adj" fmla="val 2609"/>
            </a:avLst>
          </a:prstGeom>
          <a:solidFill>
            <a:srgbClr val="F96167">
              <a:alpha val="12000"/>
            </a:srgbClr>
          </a:solidFill>
          <a:ln/>
          <a:effectLst>
            <a:outerShdw sx="100000" sy="100000" kx="0" ky="0" algn="bl" rotWithShape="0" blurRad="101600" dist="38100" dir="2700000">
              <a:srgbClr val="000000">
                <a:alpha val="15000"/>
              </a:srgbClr>
            </a:outerShdw>
          </a:effectLst>
        </p:spPr>
      </p:sp>
      <p:sp>
        <p:nvSpPr>
          <p:cNvPr id="12" name="Shape 9"/>
          <p:cNvSpPr/>
          <p:nvPr/>
        </p:nvSpPr>
        <p:spPr>
          <a:xfrm>
            <a:off x="6400800" y="2148840"/>
            <a:ext cx="914400" cy="914400"/>
          </a:xfrm>
          <a:prstGeom prst="ellipse">
            <a:avLst/>
          </a:prstGeom>
          <a:solidFill>
            <a:srgbClr val="F96167"/>
          </a:solidFill>
          <a:ln/>
        </p:spPr>
      </p:sp>
      <p:pic>
        <p:nvPicPr>
          <p:cNvPr id="13" name="Image 1" descr="icon_pen_white.png">    </p:cNvPr>
          <p:cNvPicPr>
            <a:picLocks noChangeAspect="1"/>
          </p:cNvPicPr>
          <p:nvPr/>
        </p:nvPicPr>
        <p:blipFill>
          <a:blip r:embed="rId2"/>
          <a:stretch>
            <a:fillRect/>
          </a:stretch>
        </p:blipFill>
        <p:spPr>
          <a:xfrm>
            <a:off x="6629400" y="2377440"/>
            <a:ext cx="457200" cy="457200"/>
          </a:xfrm>
          <a:prstGeom prst="rect">
            <a:avLst/>
          </a:prstGeom>
        </p:spPr>
      </p:pic>
      <p:sp>
        <p:nvSpPr>
          <p:cNvPr id="14" name="Text 10"/>
          <p:cNvSpPr/>
          <p:nvPr/>
        </p:nvSpPr>
        <p:spPr>
          <a:xfrm>
            <a:off x="7498080" y="2148840"/>
            <a:ext cx="3474720" cy="457200"/>
          </a:xfrm>
          <a:prstGeom prst="rect">
            <a:avLst/>
          </a:prstGeom>
          <a:noFill/>
          <a:ln/>
        </p:spPr>
        <p:txBody>
          <a:bodyPr wrap="square" rtlCol="0" anchor="ctr"/>
          <a:lstStyle/>
          <a:p>
            <a:pPr indent="0" marL="0">
              <a:buNone/>
            </a:pPr>
            <a:r>
              <a:rPr lang="en-US" sz="1600" b="1" spc="200" kern="0" dirty="0">
                <a:solidFill>
                  <a:srgbClr val="F96167"/>
                </a:solidFill>
                <a:latin typeface="Calibri" pitchFamily="34" charset="0"/>
                <a:ea typeface="Calibri" pitchFamily="34" charset="-122"/>
                <a:cs typeface="Calibri" pitchFamily="34" charset="-120"/>
              </a:rPr>
              <a:t>GENERATIVE AI</a:t>
            </a:r>
            <a:endParaRPr lang="en-US" sz="1600" dirty="0"/>
          </a:p>
        </p:txBody>
      </p:sp>
      <p:sp>
        <p:nvSpPr>
          <p:cNvPr id="15" name="Text 11"/>
          <p:cNvSpPr/>
          <p:nvPr/>
        </p:nvSpPr>
        <p:spPr>
          <a:xfrm>
            <a:off x="7498080" y="2560320"/>
            <a:ext cx="3474720" cy="548640"/>
          </a:xfrm>
          <a:prstGeom prst="rect">
            <a:avLst/>
          </a:prstGeom>
          <a:noFill/>
          <a:ln/>
        </p:spPr>
        <p:txBody>
          <a:bodyPr wrap="square" rtlCol="0" anchor="ctr"/>
          <a:lstStyle/>
          <a:p>
            <a:pPr indent="0" marL="0">
              <a:buNone/>
            </a:pPr>
            <a:r>
              <a:rPr lang="en-US" sz="1200" i="1" dirty="0">
                <a:solidFill>
                  <a:srgbClr val="1A1A2E"/>
                </a:solidFill>
                <a:latin typeface="Calibri" pitchFamily="34" charset="0"/>
                <a:ea typeface="Calibri" pitchFamily="34" charset="-122"/>
                <a:cs typeface="Calibri" pitchFamily="34" charset="-120"/>
              </a:rPr>
              <a:t>Produces brand-new content that didn't exist before.</a:t>
            </a:r>
            <a:endParaRPr lang="en-US" sz="1200" dirty="0"/>
          </a:p>
        </p:txBody>
      </p:sp>
      <p:sp>
        <p:nvSpPr>
          <p:cNvPr id="16" name="Text 12"/>
          <p:cNvSpPr/>
          <p:nvPr/>
        </p:nvSpPr>
        <p:spPr>
          <a:xfrm>
            <a:off x="6400800" y="3246120"/>
            <a:ext cx="4389120" cy="1645920"/>
          </a:xfrm>
          <a:prstGeom prst="rect">
            <a:avLst/>
          </a:prstGeom>
          <a:noFill/>
          <a:ln/>
        </p:spPr>
        <p:txBody>
          <a:bodyPr wrap="square" rtlCol="0" anchor="ctr"/>
          <a:lstStyle/>
          <a:p>
            <a:pPr marL="342900" indent="-342900">
              <a:lnSpc>
                <a:spcPct val="110000"/>
              </a:lnSpc>
              <a:spcAft>
                <a:spcPts val="1000"/>
              </a:spcAft>
              <a:buSzPct val="100000"/>
              <a:buChar char="•"/>
            </a:pPr>
            <a:r>
              <a:rPr lang="en-US" sz="1400" dirty="0">
                <a:solidFill>
                  <a:srgbClr val="1A1A2E"/>
                </a:solidFill>
                <a:latin typeface="Calibri" pitchFamily="34" charset="0"/>
                <a:ea typeface="Calibri" pitchFamily="34" charset="-122"/>
                <a:cs typeface="Calibri" pitchFamily="34" charset="-120"/>
              </a:rPr>
              <a:t>Write a product description</a:t>
            </a:r>
            <a:endParaRPr lang="en-US" sz="1400" dirty="0"/>
          </a:p>
          <a:p>
            <a:pPr marL="342900" indent="-342900">
              <a:lnSpc>
                <a:spcPct val="110000"/>
              </a:lnSpc>
              <a:spcAft>
                <a:spcPts val="1000"/>
              </a:spcAft>
              <a:buSzPct val="100000"/>
              <a:buChar char="•"/>
            </a:pPr>
            <a:r>
              <a:rPr lang="en-US" sz="1400" dirty="0">
                <a:solidFill>
                  <a:srgbClr val="1A1A2E"/>
                </a:solidFill>
                <a:latin typeface="Calibri" pitchFamily="34" charset="0"/>
                <a:ea typeface="Calibri" pitchFamily="34" charset="-122"/>
                <a:cs typeface="Calibri" pitchFamily="34" charset="-120"/>
              </a:rPr>
              <a:t>Draft working Python code</a:t>
            </a:r>
            <a:endParaRPr lang="en-US" sz="1400" dirty="0"/>
          </a:p>
          <a:p>
            <a:pPr marL="342900" indent="-342900">
              <a:lnSpc>
                <a:spcPct val="110000"/>
              </a:lnSpc>
              <a:spcAft>
                <a:spcPts val="1000"/>
              </a:spcAft>
              <a:buSzPct val="100000"/>
              <a:buChar char="•"/>
            </a:pPr>
            <a:r>
              <a:rPr lang="en-US" sz="1400" dirty="0">
                <a:solidFill>
                  <a:srgbClr val="1A1A2E"/>
                </a:solidFill>
                <a:latin typeface="Calibri" pitchFamily="34" charset="0"/>
                <a:ea typeface="Calibri" pitchFamily="34" charset="-122"/>
                <a:cs typeface="Calibri" pitchFamily="34" charset="-120"/>
              </a:rPr>
              <a:t>Create an image from a sentence</a:t>
            </a:r>
            <a:endParaRPr lang="en-US" sz="1400" dirty="0"/>
          </a:p>
          <a:p>
            <a:pPr marL="342900" indent="-342900">
              <a:lnSpc>
                <a:spcPct val="110000"/>
              </a:lnSpc>
              <a:spcAft>
                <a:spcPts val="1000"/>
              </a:spcAft>
              <a:buSzPct val="100000"/>
              <a:buChar char="•"/>
            </a:pPr>
            <a:r>
              <a:rPr lang="en-US" sz="1400" dirty="0">
                <a:solidFill>
                  <a:srgbClr val="1A1A2E"/>
                </a:solidFill>
                <a:latin typeface="Calibri" pitchFamily="34" charset="0"/>
                <a:ea typeface="Calibri" pitchFamily="34" charset="-122"/>
                <a:cs typeface="Calibri" pitchFamily="34" charset="-120"/>
              </a:rPr>
              <a:t>Summarize a 40-message thread</a:t>
            </a:r>
            <a:endParaRPr lang="en-US" sz="1400" dirty="0"/>
          </a:p>
        </p:txBody>
      </p:sp>
      <p:sp>
        <p:nvSpPr>
          <p:cNvPr id="17" name="Text 13"/>
          <p:cNvSpPr/>
          <p:nvPr/>
        </p:nvSpPr>
        <p:spPr>
          <a:xfrm>
            <a:off x="6400800" y="5074920"/>
            <a:ext cx="4389120" cy="731520"/>
          </a:xfrm>
          <a:prstGeom prst="rect">
            <a:avLst/>
          </a:prstGeom>
          <a:noFill/>
          <a:ln/>
        </p:spPr>
        <p:txBody>
          <a:bodyPr wrap="square" rtlCol="0" anchor="ctr"/>
          <a:lstStyle/>
          <a:p>
            <a:pPr indent="0" marL="0">
              <a:buNone/>
            </a:pPr>
            <a:r>
              <a:rPr lang="en-US" sz="1200" i="1" dirty="0">
                <a:solidFill>
                  <a:srgbClr val="6B7394"/>
                </a:solidFill>
                <a:latin typeface="Calibri" pitchFamily="34" charset="0"/>
                <a:ea typeface="Calibri" pitchFamily="34" charset="-122"/>
                <a:cs typeface="Calibri" pitchFamily="34" charset="-120"/>
              </a:rPr>
              <a:t>This is the half everyone's suddenly talking about.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analogy that makes it click</a:t>
            </a:r>
            <a:endParaRPr lang="en-US" sz="3000" dirty="0"/>
          </a:p>
        </p:txBody>
      </p:sp>
      <p:sp>
        <p:nvSpPr>
          <p:cNvPr id="3" name="Shape 1"/>
          <p:cNvSpPr/>
          <p:nvPr/>
        </p:nvSpPr>
        <p:spPr>
          <a:xfrm>
            <a:off x="640080" y="1463040"/>
            <a:ext cx="10881360" cy="1371600"/>
          </a:xfrm>
          <a:prstGeom prst="roundRect">
            <a:avLst>
              <a:gd name="adj" fmla="val 6667"/>
            </a:avLst>
          </a:prstGeom>
          <a:solidFill>
            <a:srgbClr val="FFFFFF">
              <a:alpha val="8000"/>
            </a:srgbClr>
          </a:solidFill>
          <a:ln/>
        </p:spPr>
      </p:sp>
      <p:pic>
        <p:nvPicPr>
          <p:cNvPr id="4" name="Image 0" descr="icon_keyboard_white.png">    </p:cNvPr>
          <p:cNvPicPr>
            <a:picLocks noChangeAspect="1"/>
          </p:cNvPicPr>
          <p:nvPr/>
        </p:nvPicPr>
        <p:blipFill>
          <a:blip r:embed="rId1"/>
          <a:stretch>
            <a:fillRect/>
          </a:stretch>
        </p:blipFill>
        <p:spPr>
          <a:xfrm>
            <a:off x="960120" y="1828800"/>
            <a:ext cx="640080" cy="640080"/>
          </a:xfrm>
          <a:prstGeom prst="rect">
            <a:avLst/>
          </a:prstGeom>
        </p:spPr>
      </p:pic>
      <p:sp>
        <p:nvSpPr>
          <p:cNvPr id="5" name="Text 2"/>
          <p:cNvSpPr/>
          <p:nvPr/>
        </p:nvSpPr>
        <p:spPr>
          <a:xfrm>
            <a:off x="1828800" y="1783080"/>
            <a:ext cx="9418320" cy="365760"/>
          </a:xfrm>
          <a:prstGeom prst="rect">
            <a:avLst/>
          </a:prstGeom>
          <a:noFill/>
          <a:ln/>
        </p:spPr>
        <p:txBody>
          <a:bodyPr wrap="square" rtlCol="0" anchor="ctr"/>
          <a:lstStyle/>
          <a:p>
            <a:pPr indent="0" marL="0">
              <a:buNone/>
            </a:pPr>
            <a:r>
              <a:rPr lang="en-US" sz="1700" b="1" dirty="0">
                <a:solidFill>
                  <a:srgbClr val="CADCFC"/>
                </a:solidFill>
                <a:latin typeface="Calibri" pitchFamily="34" charset="0"/>
                <a:ea typeface="Calibri" pitchFamily="34" charset="-122"/>
                <a:cs typeface="Calibri" pitchFamily="34" charset="-120"/>
              </a:rPr>
              <a:t>You type: </a:t>
            </a:r>
            <a:pPr indent="0" marL="0">
              <a:buNone/>
            </a:pPr>
            <a:r>
              <a:rPr lang="en-US" sz="1700" b="1" i="1" dirty="0">
                <a:solidFill>
                  <a:srgbClr val="F9E795"/>
                </a:solidFill>
                <a:latin typeface="Calibri" pitchFamily="34" charset="0"/>
                <a:ea typeface="Calibri" pitchFamily="34" charset="-122"/>
                <a:cs typeface="Calibri" pitchFamily="34" charset="-120"/>
              </a:rPr>
              <a:t>"I'll see you at the ___"</a:t>
            </a:r>
            <a:endParaRPr lang="en-US" sz="1700" dirty="0"/>
          </a:p>
        </p:txBody>
      </p:sp>
      <p:sp>
        <p:nvSpPr>
          <p:cNvPr id="6" name="Text 3"/>
          <p:cNvSpPr/>
          <p:nvPr/>
        </p:nvSpPr>
        <p:spPr>
          <a:xfrm>
            <a:off x="1828800" y="2148840"/>
            <a:ext cx="9418320" cy="54864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Your phone suggests: "store." "park." "office." — predicting the next word from the last few you typed.</a:t>
            </a:r>
            <a:endParaRPr lang="en-US" sz="1300" dirty="0"/>
          </a:p>
        </p:txBody>
      </p:sp>
      <p:pic>
        <p:nvPicPr>
          <p:cNvPr id="7" name="Image 1" descr="icon_arrow_white.png">    </p:cNvPr>
          <p:cNvPicPr>
            <a:picLocks noChangeAspect="1"/>
          </p:cNvPicPr>
          <p:nvPr/>
        </p:nvPicPr>
        <p:blipFill>
          <a:blip r:embed="rId2"/>
          <a:stretch>
            <a:fillRect/>
          </a:stretch>
        </p:blipFill>
        <p:spPr>
          <a:xfrm rot="5400000">
            <a:off x="5532120" y="2971800"/>
            <a:ext cx="548640" cy="548640"/>
          </a:xfrm>
          <a:prstGeom prst="rect">
            <a:avLst/>
          </a:prstGeom>
        </p:spPr>
      </p:pic>
      <p:sp>
        <p:nvSpPr>
          <p:cNvPr id="8" name="Shape 4"/>
          <p:cNvSpPr/>
          <p:nvPr/>
        </p:nvSpPr>
        <p:spPr>
          <a:xfrm>
            <a:off x="640080" y="3703320"/>
            <a:ext cx="10881360" cy="2011680"/>
          </a:xfrm>
          <a:prstGeom prst="roundRect">
            <a:avLst>
              <a:gd name="adj" fmla="val 4545"/>
            </a:avLst>
          </a:prstGeom>
          <a:solidFill>
            <a:srgbClr val="F96167"/>
          </a:solidFill>
          <a:ln/>
          <a:effectLst>
            <a:outerShdw sx="100000" sy="100000" kx="0" ky="0" algn="bl" rotWithShape="0" blurRad="101600" dist="38100" dir="2700000">
              <a:srgbClr val="000000">
                <a:alpha val="15000"/>
              </a:srgbClr>
            </a:outerShdw>
          </a:effectLst>
        </p:spPr>
      </p:sp>
      <p:pic>
        <p:nvPicPr>
          <p:cNvPr id="9" name="Image 2" descr="icon_brain_white.png">    </p:cNvPr>
          <p:cNvPicPr>
            <a:picLocks noChangeAspect="1"/>
          </p:cNvPicPr>
          <p:nvPr/>
        </p:nvPicPr>
        <p:blipFill>
          <a:blip r:embed="rId3"/>
          <a:stretch>
            <a:fillRect/>
          </a:stretch>
        </p:blipFill>
        <p:spPr>
          <a:xfrm>
            <a:off x="960120" y="4023360"/>
            <a:ext cx="731520" cy="731520"/>
          </a:xfrm>
          <a:prstGeom prst="rect">
            <a:avLst/>
          </a:prstGeom>
        </p:spPr>
      </p:pic>
      <p:sp>
        <p:nvSpPr>
          <p:cNvPr id="10" name="Text 5"/>
          <p:cNvSpPr/>
          <p:nvPr/>
        </p:nvSpPr>
        <p:spPr>
          <a:xfrm>
            <a:off x="1920240" y="3977640"/>
            <a:ext cx="932688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large language model is the SAME idea — at massive scale.</a:t>
            </a:r>
            <a:endParaRPr lang="en-US" sz="1800" dirty="0"/>
          </a:p>
        </p:txBody>
      </p:sp>
      <p:sp>
        <p:nvSpPr>
          <p:cNvPr id="11" name="Text 6"/>
          <p:cNvSpPr/>
          <p:nvPr/>
        </p:nvSpPr>
        <p:spPr>
          <a:xfrm>
            <a:off x="1920240" y="4480560"/>
            <a:ext cx="9326880" cy="1188720"/>
          </a:xfrm>
          <a:prstGeom prst="rect">
            <a:avLst/>
          </a:prstGeom>
          <a:noFill/>
          <a:ln/>
        </p:spPr>
        <p:txBody>
          <a:bodyPr wrap="square" rtlCol="0" anchor="ctr"/>
          <a:lstStyle/>
          <a:p>
            <a:pPr marL="342900" indent="-342900">
              <a:lnSpc>
                <a:spcPct val="105000"/>
              </a:lnSpc>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It reads the entire conversation (thousands of words), not just 2-3.</a:t>
            </a:r>
            <a:endParaRPr lang="en-US" sz="1350" dirty="0"/>
          </a:p>
          <a:p>
            <a:pPr marL="342900" indent="-342900">
              <a:lnSpc>
                <a:spcPct val="105000"/>
              </a:lnSpc>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It chooses from ~100,000+ possible “next pieces,” not a tiny suggestion list.</a:t>
            </a:r>
            <a:endParaRPr lang="en-US" sz="1350" dirty="0"/>
          </a:p>
          <a:p>
            <a:pPr marL="342900" indent="-342900">
              <a:lnSpc>
                <a:spcPct val="105000"/>
              </a:lnSpc>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It was trained on a huge slice of human writing — which is why it can sound like it's reasoning.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365760"/>
          </a:xfrm>
          <a:prstGeom prst="rect">
            <a:avLst/>
          </a:prstGeom>
          <a:noFill/>
          <a:ln/>
        </p:spPr>
        <p:txBody>
          <a:bodyPr wrap="square" rtlCol="0" anchor="ctr"/>
          <a:lstStyle/>
          <a:p>
            <a:pPr indent="0" marL="0">
              <a:buNone/>
            </a:pPr>
            <a:r>
              <a:rPr lang="en-US" sz="1300" b="1" spc="300" kern="0" dirty="0">
                <a:solidFill>
                  <a:srgbClr val="F96167"/>
                </a:solidFill>
                <a:latin typeface="Calibri" pitchFamily="34" charset="0"/>
                <a:ea typeface="Calibri" pitchFamily="34" charset="-122"/>
                <a:cs typeface="Calibri" pitchFamily="34" charset="-120"/>
              </a:rPr>
              <a:t>MYTH 1 OF 3</a:t>
            </a:r>
            <a:endParaRPr lang="en-US" sz="1300" dirty="0"/>
          </a:p>
        </p:txBody>
      </p:sp>
      <p:sp>
        <p:nvSpPr>
          <p:cNvPr id="3" name="Shape 1"/>
          <p:cNvSpPr/>
          <p:nvPr/>
        </p:nvSpPr>
        <p:spPr>
          <a:xfrm>
            <a:off x="640080" y="1005840"/>
            <a:ext cx="10881360" cy="1920240"/>
          </a:xfrm>
          <a:prstGeom prst="roundRect">
            <a:avLst>
              <a:gd name="adj" fmla="val 5714"/>
            </a:avLst>
          </a:prstGeom>
          <a:solidFill>
            <a:srgbClr val="F96167">
              <a:alpha val="10000"/>
            </a:srgbClr>
          </a:solidFill>
          <a:ln/>
        </p:spPr>
      </p:sp>
      <p:pic>
        <p:nvPicPr>
          <p:cNvPr id="4" name="Image 0" descr="icon_warning_coral.png">    </p:cNvPr>
          <p:cNvPicPr>
            <a:picLocks noChangeAspect="1"/>
          </p:cNvPicPr>
          <p:nvPr/>
        </p:nvPicPr>
        <p:blipFill>
          <a:blip r:embed="rId1"/>
          <a:stretch>
            <a:fillRect/>
          </a:stretch>
        </p:blipFill>
        <p:spPr>
          <a:xfrm>
            <a:off x="960120" y="1371600"/>
            <a:ext cx="777240" cy="777240"/>
          </a:xfrm>
          <a:prstGeom prst="rect">
            <a:avLst/>
          </a:prstGeom>
        </p:spPr>
      </p:pic>
      <p:sp>
        <p:nvSpPr>
          <p:cNvPr id="5" name="Text 2"/>
          <p:cNvSpPr/>
          <p:nvPr/>
        </p:nvSpPr>
        <p:spPr>
          <a:xfrm>
            <a:off x="1920240" y="1234440"/>
            <a:ext cx="9326880" cy="1463040"/>
          </a:xfrm>
          <a:prstGeom prst="rect">
            <a:avLst/>
          </a:prstGeom>
          <a:noFill/>
          <a:ln/>
        </p:spPr>
        <p:txBody>
          <a:bodyPr wrap="square" rtlCol="0" anchor="ctr"/>
          <a:lstStyle/>
          <a:p>
            <a:pPr indent="0" marL="0">
              <a:buNone/>
            </a:pPr>
            <a:r>
              <a:rPr lang="en-US" sz="2200" b="1" i="1" dirty="0">
                <a:solidFill>
                  <a:srgbClr val="1A1A2E"/>
                </a:solidFill>
                <a:latin typeface="Cambria" pitchFamily="34" charset="0"/>
                <a:ea typeface="Cambria" pitchFamily="34" charset="-122"/>
                <a:cs typeface="Cambria" pitchFamily="34" charset="-120"/>
              </a:rPr>
              <a:t>“It looked that fact up.”</a:t>
            </a:r>
            <a:endParaRPr lang="en-US" sz="2200" dirty="0"/>
          </a:p>
        </p:txBody>
      </p:sp>
      <p:sp>
        <p:nvSpPr>
          <p:cNvPr id="6" name="Shape 3"/>
          <p:cNvSpPr/>
          <p:nvPr/>
        </p:nvSpPr>
        <p:spPr>
          <a:xfrm>
            <a:off x="640080" y="3246120"/>
            <a:ext cx="10881360" cy="2834640"/>
          </a:xfrm>
          <a:prstGeom prst="roundRect">
            <a:avLst>
              <a:gd name="adj" fmla="val 3871"/>
            </a:avLst>
          </a:prstGeom>
          <a:solidFill>
            <a:srgbClr val="1E2761"/>
          </a:solidFill>
          <a:ln/>
          <a:effectLst>
            <a:outerShdw sx="100000" sy="100000" kx="0" ky="0" algn="bl" rotWithShape="0" blurRad="101600" dist="38100" dir="2700000">
              <a:srgbClr val="000000">
                <a:alpha val="15000"/>
              </a:srgbClr>
            </a:outerShdw>
          </a:effectLst>
        </p:spPr>
      </p:sp>
      <p:pic>
        <p:nvPicPr>
          <p:cNvPr id="7" name="Image 1" descr="icon_shield_white.png">    </p:cNvPr>
          <p:cNvPicPr>
            <a:picLocks noChangeAspect="1"/>
          </p:cNvPicPr>
          <p:nvPr/>
        </p:nvPicPr>
        <p:blipFill>
          <a:blip r:embed="rId2"/>
          <a:stretch>
            <a:fillRect/>
          </a:stretch>
        </p:blipFill>
        <p:spPr>
          <a:xfrm>
            <a:off x="960120" y="3611880"/>
            <a:ext cx="640080" cy="640080"/>
          </a:xfrm>
          <a:prstGeom prst="rect">
            <a:avLst/>
          </a:prstGeom>
        </p:spPr>
      </p:pic>
      <p:sp>
        <p:nvSpPr>
          <p:cNvPr id="8" name="Text 4"/>
          <p:cNvSpPr/>
          <p:nvPr/>
        </p:nvSpPr>
        <p:spPr>
          <a:xfrm>
            <a:off x="1828800" y="3520440"/>
            <a:ext cx="8229600" cy="365760"/>
          </a:xfrm>
          <a:prstGeom prst="rect">
            <a:avLst/>
          </a:prstGeom>
          <a:noFill/>
          <a:ln/>
        </p:spPr>
        <p:txBody>
          <a:bodyPr wrap="square" rtlCol="0" anchor="ctr"/>
          <a:lstStyle/>
          <a:p>
            <a:pPr indent="0" marL="0">
              <a:buNone/>
            </a:pPr>
            <a:r>
              <a:rPr lang="en-US" sz="1300" b="1" spc="300" kern="0" dirty="0">
                <a:solidFill>
                  <a:srgbClr val="F9E795"/>
                </a:solidFill>
                <a:latin typeface="Calibri" pitchFamily="34" charset="0"/>
                <a:ea typeface="Calibri" pitchFamily="34" charset="-122"/>
                <a:cs typeface="Calibri" pitchFamily="34" charset="-120"/>
              </a:rPr>
              <a:t>THE REALITY</a:t>
            </a:r>
            <a:endParaRPr lang="en-US" sz="1300" dirty="0"/>
          </a:p>
        </p:txBody>
      </p:sp>
      <p:sp>
        <p:nvSpPr>
          <p:cNvPr id="9" name="Text 5"/>
          <p:cNvSpPr/>
          <p:nvPr/>
        </p:nvSpPr>
        <p:spPr>
          <a:xfrm>
            <a:off x="1828800" y="3931920"/>
            <a:ext cx="9418320" cy="1920240"/>
          </a:xfrm>
          <a:prstGeom prst="rect">
            <a:avLst/>
          </a:prstGeom>
          <a:noFill/>
          <a:ln/>
        </p:spPr>
        <p:txBody>
          <a:bodyPr wrap="square" rtlCol="0" anchor="ctr"/>
          <a:lstStyle/>
          <a:p>
            <a:pPr indent="0" marL="0">
              <a:lnSpc>
                <a:spcPct val="125000"/>
              </a:lnSpc>
              <a:buNone/>
            </a:pPr>
            <a:r>
              <a:rPr lang="en-US" sz="1550" dirty="0">
                <a:solidFill>
                  <a:srgbClr val="FFFFFF"/>
                </a:solidFill>
                <a:latin typeface="Calibri" pitchFamily="34" charset="0"/>
                <a:ea typeface="Calibri" pitchFamily="34" charset="-122"/>
                <a:cs typeface="Calibri" pitchFamily="34" charset="-120"/>
              </a:rPr>
              <a:t>It almost never did. Unless it's explicitly using a search tool (we'll cover that in Week 4), the model is generating the statistically most plausible next words — not querying a database. That's exactly why models can sound certain about something false. This is the root cause of hallucination, which gets its own full session later this week.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365760"/>
          </a:xfrm>
          <a:prstGeom prst="rect">
            <a:avLst/>
          </a:prstGeom>
          <a:noFill/>
          <a:ln/>
        </p:spPr>
        <p:txBody>
          <a:bodyPr wrap="square" rtlCol="0" anchor="ctr"/>
          <a:lstStyle/>
          <a:p>
            <a:pPr indent="0" marL="0">
              <a:buNone/>
            </a:pPr>
            <a:r>
              <a:rPr lang="en-US" sz="1300" b="1" spc="300" kern="0" dirty="0">
                <a:solidFill>
                  <a:srgbClr val="F96167"/>
                </a:solidFill>
                <a:latin typeface="Calibri" pitchFamily="34" charset="0"/>
                <a:ea typeface="Calibri" pitchFamily="34" charset="-122"/>
                <a:cs typeface="Calibri" pitchFamily="34" charset="-120"/>
              </a:rPr>
              <a:t>MYTH 2 OF 3</a:t>
            </a:r>
            <a:endParaRPr lang="en-US" sz="1300" dirty="0"/>
          </a:p>
        </p:txBody>
      </p:sp>
      <p:sp>
        <p:nvSpPr>
          <p:cNvPr id="3" name="Shape 1"/>
          <p:cNvSpPr/>
          <p:nvPr/>
        </p:nvSpPr>
        <p:spPr>
          <a:xfrm>
            <a:off x="640080" y="1005840"/>
            <a:ext cx="10881360" cy="1920240"/>
          </a:xfrm>
          <a:prstGeom prst="roundRect">
            <a:avLst>
              <a:gd name="adj" fmla="val 5714"/>
            </a:avLst>
          </a:prstGeom>
          <a:solidFill>
            <a:srgbClr val="F96167">
              <a:alpha val="10000"/>
            </a:srgbClr>
          </a:solidFill>
          <a:ln/>
        </p:spPr>
      </p:sp>
      <p:pic>
        <p:nvPicPr>
          <p:cNvPr id="4" name="Image 0" descr="icon_warning_coral.png">    </p:cNvPr>
          <p:cNvPicPr>
            <a:picLocks noChangeAspect="1"/>
          </p:cNvPicPr>
          <p:nvPr/>
        </p:nvPicPr>
        <p:blipFill>
          <a:blip r:embed="rId1"/>
          <a:stretch>
            <a:fillRect/>
          </a:stretch>
        </p:blipFill>
        <p:spPr>
          <a:xfrm>
            <a:off x="960120" y="1371600"/>
            <a:ext cx="777240" cy="777240"/>
          </a:xfrm>
          <a:prstGeom prst="rect">
            <a:avLst/>
          </a:prstGeom>
        </p:spPr>
      </p:pic>
      <p:sp>
        <p:nvSpPr>
          <p:cNvPr id="5" name="Text 2"/>
          <p:cNvSpPr/>
          <p:nvPr/>
        </p:nvSpPr>
        <p:spPr>
          <a:xfrm>
            <a:off x="1920240" y="1234440"/>
            <a:ext cx="9326880" cy="1463040"/>
          </a:xfrm>
          <a:prstGeom prst="rect">
            <a:avLst/>
          </a:prstGeom>
          <a:noFill/>
          <a:ln/>
        </p:spPr>
        <p:txBody>
          <a:bodyPr wrap="square" rtlCol="0" anchor="ctr"/>
          <a:lstStyle/>
          <a:p>
            <a:pPr indent="0" marL="0">
              <a:buNone/>
            </a:pPr>
            <a:r>
              <a:rPr lang="en-US" sz="2200" b="1" i="1" dirty="0">
                <a:solidFill>
                  <a:srgbClr val="1A1A2E"/>
                </a:solidFill>
                <a:latin typeface="Cambria" pitchFamily="34" charset="0"/>
                <a:ea typeface="Cambria" pitchFamily="34" charset="-122"/>
                <a:cs typeface="Cambria" pitchFamily="34" charset="-120"/>
              </a:rPr>
              <a:t>“It's reasoning, just like a human.”</a:t>
            </a:r>
            <a:endParaRPr lang="en-US" sz="2200" dirty="0"/>
          </a:p>
        </p:txBody>
      </p:sp>
      <p:sp>
        <p:nvSpPr>
          <p:cNvPr id="6" name="Shape 3"/>
          <p:cNvSpPr/>
          <p:nvPr/>
        </p:nvSpPr>
        <p:spPr>
          <a:xfrm>
            <a:off x="640080" y="3246120"/>
            <a:ext cx="10881360" cy="2834640"/>
          </a:xfrm>
          <a:prstGeom prst="roundRect">
            <a:avLst>
              <a:gd name="adj" fmla="val 3871"/>
            </a:avLst>
          </a:prstGeom>
          <a:solidFill>
            <a:srgbClr val="1E2761"/>
          </a:solidFill>
          <a:ln/>
          <a:effectLst>
            <a:outerShdw sx="100000" sy="100000" kx="0" ky="0" algn="bl" rotWithShape="0" blurRad="101600" dist="38100" dir="2700000">
              <a:srgbClr val="000000">
                <a:alpha val="15000"/>
              </a:srgbClr>
            </a:outerShdw>
          </a:effectLst>
        </p:spPr>
      </p:sp>
      <p:pic>
        <p:nvPicPr>
          <p:cNvPr id="7" name="Image 1" descr="icon_shield_white.png">    </p:cNvPr>
          <p:cNvPicPr>
            <a:picLocks noChangeAspect="1"/>
          </p:cNvPicPr>
          <p:nvPr/>
        </p:nvPicPr>
        <p:blipFill>
          <a:blip r:embed="rId2"/>
          <a:stretch>
            <a:fillRect/>
          </a:stretch>
        </p:blipFill>
        <p:spPr>
          <a:xfrm>
            <a:off x="960120" y="3611880"/>
            <a:ext cx="640080" cy="640080"/>
          </a:xfrm>
          <a:prstGeom prst="rect">
            <a:avLst/>
          </a:prstGeom>
        </p:spPr>
      </p:pic>
      <p:sp>
        <p:nvSpPr>
          <p:cNvPr id="8" name="Text 4"/>
          <p:cNvSpPr/>
          <p:nvPr/>
        </p:nvSpPr>
        <p:spPr>
          <a:xfrm>
            <a:off x="1828800" y="3520440"/>
            <a:ext cx="8229600" cy="365760"/>
          </a:xfrm>
          <a:prstGeom prst="rect">
            <a:avLst/>
          </a:prstGeom>
          <a:noFill/>
          <a:ln/>
        </p:spPr>
        <p:txBody>
          <a:bodyPr wrap="square" rtlCol="0" anchor="ctr"/>
          <a:lstStyle/>
          <a:p>
            <a:pPr indent="0" marL="0">
              <a:buNone/>
            </a:pPr>
            <a:r>
              <a:rPr lang="en-US" sz="1300" b="1" spc="300" kern="0" dirty="0">
                <a:solidFill>
                  <a:srgbClr val="F9E795"/>
                </a:solidFill>
                <a:latin typeface="Calibri" pitchFamily="34" charset="0"/>
                <a:ea typeface="Calibri" pitchFamily="34" charset="-122"/>
                <a:cs typeface="Calibri" pitchFamily="34" charset="-120"/>
              </a:rPr>
              <a:t>THE REALITY</a:t>
            </a:r>
            <a:endParaRPr lang="en-US" sz="1300" dirty="0"/>
          </a:p>
        </p:txBody>
      </p:sp>
      <p:sp>
        <p:nvSpPr>
          <p:cNvPr id="9" name="Text 5"/>
          <p:cNvSpPr/>
          <p:nvPr/>
        </p:nvSpPr>
        <p:spPr>
          <a:xfrm>
            <a:off x="1828800" y="3931920"/>
            <a:ext cx="9418320" cy="1920240"/>
          </a:xfrm>
          <a:prstGeom prst="rect">
            <a:avLst/>
          </a:prstGeom>
          <a:noFill/>
          <a:ln/>
        </p:spPr>
        <p:txBody>
          <a:bodyPr wrap="square" rtlCol="0" anchor="ctr"/>
          <a:lstStyle/>
          <a:p>
            <a:pPr indent="0" marL="0">
              <a:lnSpc>
                <a:spcPct val="125000"/>
              </a:lnSpc>
              <a:buNone/>
            </a:pPr>
            <a:r>
              <a:rPr lang="en-US" sz="1550" dirty="0">
                <a:solidFill>
                  <a:srgbClr val="FFFFFF"/>
                </a:solidFill>
                <a:latin typeface="Calibri" pitchFamily="34" charset="0"/>
                <a:ea typeface="Calibri" pitchFamily="34" charset="-122"/>
                <a:cs typeface="Calibri" pitchFamily="34" charset="-120"/>
              </a:rPr>
              <a:t>It produces text that LOOKS like step-by-step reasoning — because that pattern was abundant in its training data. Whether anything resembling human reasoning happens underneath is genuinely unresolved. The practical lesson: confidence in tone is never proof of correctness. Treat it as a hypothesis, not a verdict.</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365760"/>
          </a:xfrm>
          <a:prstGeom prst="rect">
            <a:avLst/>
          </a:prstGeom>
          <a:noFill/>
          <a:ln/>
        </p:spPr>
        <p:txBody>
          <a:bodyPr wrap="square" rtlCol="0" anchor="ctr"/>
          <a:lstStyle/>
          <a:p>
            <a:pPr indent="0" marL="0">
              <a:buNone/>
            </a:pPr>
            <a:r>
              <a:rPr lang="en-US" sz="1300" b="1" spc="300" kern="0" dirty="0">
                <a:solidFill>
                  <a:srgbClr val="F96167"/>
                </a:solidFill>
                <a:latin typeface="Calibri" pitchFamily="34" charset="0"/>
                <a:ea typeface="Calibri" pitchFamily="34" charset="-122"/>
                <a:cs typeface="Calibri" pitchFamily="34" charset="-120"/>
              </a:rPr>
              <a:t>MYTH 3 OF 3</a:t>
            </a:r>
            <a:endParaRPr lang="en-US" sz="1300" dirty="0"/>
          </a:p>
        </p:txBody>
      </p:sp>
      <p:sp>
        <p:nvSpPr>
          <p:cNvPr id="3" name="Shape 1"/>
          <p:cNvSpPr/>
          <p:nvPr/>
        </p:nvSpPr>
        <p:spPr>
          <a:xfrm>
            <a:off x="640080" y="1005840"/>
            <a:ext cx="10881360" cy="1920240"/>
          </a:xfrm>
          <a:prstGeom prst="roundRect">
            <a:avLst>
              <a:gd name="adj" fmla="val 5714"/>
            </a:avLst>
          </a:prstGeom>
          <a:solidFill>
            <a:srgbClr val="F96167">
              <a:alpha val="10000"/>
            </a:srgbClr>
          </a:solidFill>
          <a:ln/>
        </p:spPr>
      </p:sp>
      <p:pic>
        <p:nvPicPr>
          <p:cNvPr id="4" name="Image 0" descr="icon_warning_coral.png">    </p:cNvPr>
          <p:cNvPicPr>
            <a:picLocks noChangeAspect="1"/>
          </p:cNvPicPr>
          <p:nvPr/>
        </p:nvPicPr>
        <p:blipFill>
          <a:blip r:embed="rId1"/>
          <a:stretch>
            <a:fillRect/>
          </a:stretch>
        </p:blipFill>
        <p:spPr>
          <a:xfrm>
            <a:off x="960120" y="1371600"/>
            <a:ext cx="777240" cy="777240"/>
          </a:xfrm>
          <a:prstGeom prst="rect">
            <a:avLst/>
          </a:prstGeom>
        </p:spPr>
      </p:pic>
      <p:sp>
        <p:nvSpPr>
          <p:cNvPr id="5" name="Text 2"/>
          <p:cNvSpPr/>
          <p:nvPr/>
        </p:nvSpPr>
        <p:spPr>
          <a:xfrm>
            <a:off x="1920240" y="1234440"/>
            <a:ext cx="9326880" cy="1463040"/>
          </a:xfrm>
          <a:prstGeom prst="rect">
            <a:avLst/>
          </a:prstGeom>
          <a:noFill/>
          <a:ln/>
        </p:spPr>
        <p:txBody>
          <a:bodyPr wrap="square" rtlCol="0" anchor="ctr"/>
          <a:lstStyle/>
          <a:p>
            <a:pPr indent="0" marL="0">
              <a:buNone/>
            </a:pPr>
            <a:r>
              <a:rPr lang="en-US" sz="2200" b="1" i="1" dirty="0">
                <a:solidFill>
                  <a:srgbClr val="1A1A2E"/>
                </a:solidFill>
                <a:latin typeface="Cambria" pitchFamily="34" charset="0"/>
                <a:ea typeface="Cambria" pitchFamily="34" charset="-122"/>
                <a:cs typeface="Cambria" pitchFamily="34" charset="-120"/>
              </a:rPr>
              <a:t>“AI is one single thing.”</a:t>
            </a:r>
            <a:endParaRPr lang="en-US" sz="2200" dirty="0"/>
          </a:p>
        </p:txBody>
      </p:sp>
      <p:sp>
        <p:nvSpPr>
          <p:cNvPr id="6" name="Shape 3"/>
          <p:cNvSpPr/>
          <p:nvPr/>
        </p:nvSpPr>
        <p:spPr>
          <a:xfrm>
            <a:off x="640080" y="3246120"/>
            <a:ext cx="10881360" cy="2834640"/>
          </a:xfrm>
          <a:prstGeom prst="roundRect">
            <a:avLst>
              <a:gd name="adj" fmla="val 3871"/>
            </a:avLst>
          </a:prstGeom>
          <a:solidFill>
            <a:srgbClr val="1E2761"/>
          </a:solidFill>
          <a:ln/>
          <a:effectLst>
            <a:outerShdw sx="100000" sy="100000" kx="0" ky="0" algn="bl" rotWithShape="0" blurRad="101600" dist="38100" dir="2700000">
              <a:srgbClr val="000000">
                <a:alpha val="15000"/>
              </a:srgbClr>
            </a:outerShdw>
          </a:effectLst>
        </p:spPr>
      </p:sp>
      <p:pic>
        <p:nvPicPr>
          <p:cNvPr id="7" name="Image 1" descr="icon_shield_white.png">    </p:cNvPr>
          <p:cNvPicPr>
            <a:picLocks noChangeAspect="1"/>
          </p:cNvPicPr>
          <p:nvPr/>
        </p:nvPicPr>
        <p:blipFill>
          <a:blip r:embed="rId2"/>
          <a:stretch>
            <a:fillRect/>
          </a:stretch>
        </p:blipFill>
        <p:spPr>
          <a:xfrm>
            <a:off x="960120" y="3611880"/>
            <a:ext cx="640080" cy="640080"/>
          </a:xfrm>
          <a:prstGeom prst="rect">
            <a:avLst/>
          </a:prstGeom>
        </p:spPr>
      </p:pic>
      <p:sp>
        <p:nvSpPr>
          <p:cNvPr id="8" name="Text 4"/>
          <p:cNvSpPr/>
          <p:nvPr/>
        </p:nvSpPr>
        <p:spPr>
          <a:xfrm>
            <a:off x="1828800" y="3520440"/>
            <a:ext cx="8229600" cy="365760"/>
          </a:xfrm>
          <a:prstGeom prst="rect">
            <a:avLst/>
          </a:prstGeom>
          <a:noFill/>
          <a:ln/>
        </p:spPr>
        <p:txBody>
          <a:bodyPr wrap="square" rtlCol="0" anchor="ctr"/>
          <a:lstStyle/>
          <a:p>
            <a:pPr indent="0" marL="0">
              <a:buNone/>
            </a:pPr>
            <a:r>
              <a:rPr lang="en-US" sz="1300" b="1" spc="300" kern="0" dirty="0">
                <a:solidFill>
                  <a:srgbClr val="F9E795"/>
                </a:solidFill>
                <a:latin typeface="Calibri" pitchFamily="34" charset="0"/>
                <a:ea typeface="Calibri" pitchFamily="34" charset="-122"/>
                <a:cs typeface="Calibri" pitchFamily="34" charset="-120"/>
              </a:rPr>
              <a:t>THE REALITY</a:t>
            </a:r>
            <a:endParaRPr lang="en-US" sz="1300" dirty="0"/>
          </a:p>
        </p:txBody>
      </p:sp>
      <p:sp>
        <p:nvSpPr>
          <p:cNvPr id="9" name="Text 5"/>
          <p:cNvSpPr/>
          <p:nvPr/>
        </p:nvSpPr>
        <p:spPr>
          <a:xfrm>
            <a:off x="1828800" y="3931920"/>
            <a:ext cx="9418320" cy="1920240"/>
          </a:xfrm>
          <a:prstGeom prst="rect">
            <a:avLst/>
          </a:prstGeom>
          <a:noFill/>
          <a:ln/>
        </p:spPr>
        <p:txBody>
          <a:bodyPr wrap="square" rtlCol="0" anchor="ctr"/>
          <a:lstStyle/>
          <a:p>
            <a:pPr indent="0" marL="0">
              <a:lnSpc>
                <a:spcPct val="125000"/>
              </a:lnSpc>
              <a:buNone/>
            </a:pPr>
            <a:r>
              <a:rPr lang="en-US" sz="1550" dirty="0">
                <a:solidFill>
                  <a:srgbClr val="FFFFFF"/>
                </a:solidFill>
                <a:latin typeface="Calibri" pitchFamily="34" charset="0"/>
                <a:ea typeface="Calibri" pitchFamily="34" charset="-122"/>
                <a:cs typeface="Calibri" pitchFamily="34" charset="-120"/>
              </a:rPr>
              <a:t>“AI” is an umbrella over wildly different systems — fraud detection, recommendation engines, image generation, chatbots. When someone says “let's add AI,” your very first job is figuring out which kind of AI problem they actually mean. That one clarifying question is worth more than any line of code you'll write today.</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Real-world scenario</a:t>
            </a:r>
            <a:endParaRPr lang="en-US" sz="2800" dirty="0"/>
          </a:p>
        </p:txBody>
      </p:sp>
      <p:sp>
        <p:nvSpPr>
          <p:cNvPr id="3" name="Shape 1"/>
          <p:cNvSpPr/>
          <p:nvPr/>
        </p:nvSpPr>
        <p:spPr>
          <a:xfrm>
            <a:off x="640080" y="1188720"/>
            <a:ext cx="10881360" cy="1188720"/>
          </a:xfrm>
          <a:prstGeom prst="roundRect">
            <a:avLst>
              <a:gd name="adj" fmla="val 7692"/>
            </a:avLst>
          </a:prstGeom>
          <a:solidFill>
            <a:srgbClr val="CADCFC">
              <a:alpha val="40000"/>
            </a:srgbClr>
          </a:solidFill>
          <a:ln/>
        </p:spPr>
      </p:sp>
      <p:sp>
        <p:nvSpPr>
          <p:cNvPr id="4" name="Text 2"/>
          <p:cNvSpPr/>
          <p:nvPr/>
        </p:nvSpPr>
        <p:spPr>
          <a:xfrm>
            <a:off x="1005840" y="1417320"/>
            <a:ext cx="10149840" cy="822960"/>
          </a:xfrm>
          <a:prstGeom prst="rect">
            <a:avLst/>
          </a:prstGeom>
          <a:noFill/>
          <a:ln/>
        </p:spPr>
        <p:txBody>
          <a:bodyPr wrap="square" rtlCol="0" anchor="ctr"/>
          <a:lstStyle/>
          <a:p>
            <a:pPr indent="0" marL="0">
              <a:buNone/>
            </a:pPr>
            <a:r>
              <a:rPr lang="en-US" sz="1800" b="1" i="1" dirty="0">
                <a:solidFill>
                  <a:srgbClr val="1A1A2E"/>
                </a:solidFill>
                <a:latin typeface="Calibri" pitchFamily="34" charset="0"/>
                <a:ea typeface="Calibri" pitchFamily="34" charset="-122"/>
                <a:cs typeface="Calibri" pitchFamily="34" charset="-120"/>
              </a:rPr>
              <a:t>Leadership says: "Let’s put AI on our overwhelmed support team."</a:t>
            </a:r>
            <a:endParaRPr lang="en-US" sz="1800" dirty="0"/>
          </a:p>
        </p:txBody>
      </p:sp>
      <p:sp>
        <p:nvSpPr>
          <p:cNvPr id="5" name="Text 3"/>
          <p:cNvSpPr/>
          <p:nvPr/>
        </p:nvSpPr>
        <p:spPr>
          <a:xfrm>
            <a:off x="640080" y="2606040"/>
            <a:ext cx="10058400" cy="457200"/>
          </a:xfrm>
          <a:prstGeom prst="rect">
            <a:avLst/>
          </a:prstGeom>
          <a:noFill/>
          <a:ln/>
        </p:spPr>
        <p:txBody>
          <a:bodyPr wrap="square" rtlCol="0" anchor="ctr"/>
          <a:lstStyle/>
          <a:p>
            <a:pPr indent="0" marL="0">
              <a:buNone/>
            </a:pPr>
            <a:r>
              <a:rPr lang="en-US" sz="1400" dirty="0">
                <a:solidFill>
                  <a:srgbClr val="6B7394"/>
                </a:solidFill>
                <a:latin typeface="Calibri" pitchFamily="34" charset="0"/>
                <a:ea typeface="Calibri" pitchFamily="34" charset="-122"/>
                <a:cs typeface="Calibri" pitchFamily="34" charset="-120"/>
              </a:rPr>
              <a:t>That single sentence could mean FOUR completely different builds:</a:t>
            </a:r>
            <a:endParaRPr lang="en-US" sz="1400" dirty="0"/>
          </a:p>
        </p:txBody>
      </p:sp>
      <p:sp>
        <p:nvSpPr>
          <p:cNvPr id="6" name="Shape 4"/>
          <p:cNvSpPr/>
          <p:nvPr/>
        </p:nvSpPr>
        <p:spPr>
          <a:xfrm>
            <a:off x="640080" y="3200400"/>
            <a:ext cx="2606040" cy="2834640"/>
          </a:xfrm>
          <a:prstGeom prst="roundRect">
            <a:avLst>
              <a:gd name="adj" fmla="val 3509"/>
            </a:avLst>
          </a:prstGeom>
          <a:solidFill>
            <a:srgbClr val="FFFFFF"/>
          </a:solidFill>
          <a:ln w="12700">
            <a:solidFill>
              <a:srgbClr val="E5E7EB"/>
            </a:solidFill>
            <a:prstDash val="solid"/>
          </a:ln>
          <a:effectLst>
            <a:outerShdw sx="100000" sy="100000" kx="0" ky="0" algn="bl" rotWithShape="0" blurRad="101600" dist="38100" dir="2700000">
              <a:srgbClr val="000000">
                <a:alpha val="15000"/>
              </a:srgbClr>
            </a:outerShdw>
          </a:effectLst>
        </p:spPr>
      </p:sp>
      <p:sp>
        <p:nvSpPr>
          <p:cNvPr id="7" name="Shape 5"/>
          <p:cNvSpPr/>
          <p:nvPr/>
        </p:nvSpPr>
        <p:spPr>
          <a:xfrm>
            <a:off x="1577340" y="3429000"/>
            <a:ext cx="731520" cy="731520"/>
          </a:xfrm>
          <a:prstGeom prst="ellipse">
            <a:avLst/>
          </a:prstGeom>
          <a:solidFill>
            <a:srgbClr val="F96167"/>
          </a:solidFill>
          <a:ln/>
        </p:spPr>
      </p:sp>
      <p:pic>
        <p:nvPicPr>
          <p:cNvPr id="8" name="Image 0" descr="icon_pen_white.png">    </p:cNvPr>
          <p:cNvPicPr>
            <a:picLocks noChangeAspect="1"/>
          </p:cNvPicPr>
          <p:nvPr/>
        </p:nvPicPr>
        <p:blipFill>
          <a:blip r:embed="rId1"/>
          <a:stretch>
            <a:fillRect/>
          </a:stretch>
        </p:blipFill>
        <p:spPr>
          <a:xfrm>
            <a:off x="1741932" y="3593592"/>
            <a:ext cx="402336" cy="402336"/>
          </a:xfrm>
          <a:prstGeom prst="rect">
            <a:avLst/>
          </a:prstGeom>
        </p:spPr>
      </p:pic>
      <p:sp>
        <p:nvSpPr>
          <p:cNvPr id="9" name="Text 6"/>
          <p:cNvSpPr/>
          <p:nvPr/>
        </p:nvSpPr>
        <p:spPr>
          <a:xfrm>
            <a:off x="777240" y="4343400"/>
            <a:ext cx="2331720" cy="457200"/>
          </a:xfrm>
          <a:prstGeom prst="rect">
            <a:avLst/>
          </a:prstGeom>
          <a:noFill/>
          <a:ln/>
        </p:spPr>
        <p:txBody>
          <a:bodyPr wrap="square" rtlCol="0" anchor="ctr"/>
          <a:lstStyle/>
          <a:p>
            <a:pPr algn="ctr" indent="0" marL="0">
              <a:buNone/>
            </a:pPr>
            <a:r>
              <a:rPr lang="en-US" sz="1400" b="1" dirty="0">
                <a:solidFill>
                  <a:srgbClr val="1A1A2E"/>
                </a:solidFill>
                <a:latin typeface="Calibri" pitchFamily="34" charset="0"/>
                <a:ea typeface="Calibri" pitchFamily="34" charset="-122"/>
                <a:cs typeface="Calibri" pitchFamily="34" charset="-120"/>
              </a:rPr>
              <a:t>Draft replies</a:t>
            </a:r>
            <a:endParaRPr lang="en-US" sz="1400" dirty="0"/>
          </a:p>
        </p:txBody>
      </p:sp>
      <p:sp>
        <p:nvSpPr>
          <p:cNvPr id="10" name="Text 7"/>
          <p:cNvSpPr/>
          <p:nvPr/>
        </p:nvSpPr>
        <p:spPr>
          <a:xfrm>
            <a:off x="777240" y="4846320"/>
            <a:ext cx="2331720" cy="1005840"/>
          </a:xfrm>
          <a:prstGeom prst="rect">
            <a:avLst/>
          </a:prstGeom>
          <a:noFill/>
          <a:ln/>
        </p:spPr>
        <p:txBody>
          <a:bodyPr wrap="square" rtlCol="0" anchor="ctr"/>
          <a:lstStyle/>
          <a:p>
            <a:pPr algn="ctr" indent="0" marL="0">
              <a:lnSpc>
                <a:spcPct val="110000"/>
              </a:lnSpc>
              <a:buNone/>
            </a:pPr>
            <a:r>
              <a:rPr lang="en-US" sz="1100" dirty="0">
                <a:solidFill>
                  <a:srgbClr val="6B7394"/>
                </a:solidFill>
                <a:latin typeface="Calibri" pitchFamily="34" charset="0"/>
                <a:ea typeface="Calibri" pitchFamily="34" charset="-122"/>
                <a:cs typeface="Calibri" pitchFamily="34" charset="-120"/>
              </a:rPr>
              <a:t>Generative — writes a response for an agent to review</a:t>
            </a:r>
            <a:endParaRPr lang="en-US" sz="1100" dirty="0"/>
          </a:p>
        </p:txBody>
      </p:sp>
      <p:sp>
        <p:nvSpPr>
          <p:cNvPr id="11" name="Shape 8"/>
          <p:cNvSpPr/>
          <p:nvPr/>
        </p:nvSpPr>
        <p:spPr>
          <a:xfrm>
            <a:off x="3410712" y="3200400"/>
            <a:ext cx="2606040" cy="2834640"/>
          </a:xfrm>
          <a:prstGeom prst="roundRect">
            <a:avLst>
              <a:gd name="adj" fmla="val 3509"/>
            </a:avLst>
          </a:prstGeom>
          <a:solidFill>
            <a:srgbClr val="FFFFFF"/>
          </a:solidFill>
          <a:ln w="12700">
            <a:solidFill>
              <a:srgbClr val="E5E7EB"/>
            </a:solidFill>
            <a:prstDash val="solid"/>
          </a:ln>
          <a:effectLst>
            <a:outerShdw sx="100000" sy="100000" kx="0" ky="0" algn="bl" rotWithShape="0" blurRad="101600" dist="38100" dir="2700000">
              <a:srgbClr val="000000">
                <a:alpha val="15000"/>
              </a:srgbClr>
            </a:outerShdw>
          </a:effectLst>
        </p:spPr>
      </p:sp>
      <p:sp>
        <p:nvSpPr>
          <p:cNvPr id="12" name="Shape 9"/>
          <p:cNvSpPr/>
          <p:nvPr/>
        </p:nvSpPr>
        <p:spPr>
          <a:xfrm>
            <a:off x="4347972" y="3429000"/>
            <a:ext cx="731520" cy="731520"/>
          </a:xfrm>
          <a:prstGeom prst="ellipse">
            <a:avLst/>
          </a:prstGeom>
          <a:solidFill>
            <a:srgbClr val="1E2761"/>
          </a:solidFill>
          <a:ln/>
        </p:spPr>
      </p:sp>
      <p:pic>
        <p:nvPicPr>
          <p:cNvPr id="13" name="Image 1" descr="icon_filter_white.png">    </p:cNvPr>
          <p:cNvPicPr>
            <a:picLocks noChangeAspect="1"/>
          </p:cNvPicPr>
          <p:nvPr/>
        </p:nvPicPr>
        <p:blipFill>
          <a:blip r:embed="rId2"/>
          <a:stretch>
            <a:fillRect/>
          </a:stretch>
        </p:blipFill>
        <p:spPr>
          <a:xfrm>
            <a:off x="4512564" y="3593592"/>
            <a:ext cx="402336" cy="402336"/>
          </a:xfrm>
          <a:prstGeom prst="rect">
            <a:avLst/>
          </a:prstGeom>
        </p:spPr>
      </p:pic>
      <p:sp>
        <p:nvSpPr>
          <p:cNvPr id="14" name="Text 10"/>
          <p:cNvSpPr/>
          <p:nvPr/>
        </p:nvSpPr>
        <p:spPr>
          <a:xfrm>
            <a:off x="3547872" y="4343400"/>
            <a:ext cx="2331720" cy="457200"/>
          </a:xfrm>
          <a:prstGeom prst="rect">
            <a:avLst/>
          </a:prstGeom>
          <a:noFill/>
          <a:ln/>
        </p:spPr>
        <p:txBody>
          <a:bodyPr wrap="square" rtlCol="0" anchor="ctr"/>
          <a:lstStyle/>
          <a:p>
            <a:pPr algn="ctr" indent="0" marL="0">
              <a:buNone/>
            </a:pPr>
            <a:r>
              <a:rPr lang="en-US" sz="1400" b="1" dirty="0">
                <a:solidFill>
                  <a:srgbClr val="1A1A2E"/>
                </a:solidFill>
                <a:latin typeface="Calibri" pitchFamily="34" charset="0"/>
                <a:ea typeface="Calibri" pitchFamily="34" charset="-122"/>
                <a:cs typeface="Calibri" pitchFamily="34" charset="-120"/>
              </a:rPr>
              <a:t>Route tickets</a:t>
            </a:r>
            <a:endParaRPr lang="en-US" sz="1400" dirty="0"/>
          </a:p>
        </p:txBody>
      </p:sp>
      <p:sp>
        <p:nvSpPr>
          <p:cNvPr id="15" name="Text 11"/>
          <p:cNvSpPr/>
          <p:nvPr/>
        </p:nvSpPr>
        <p:spPr>
          <a:xfrm>
            <a:off x="3547872" y="4846320"/>
            <a:ext cx="2331720" cy="1005840"/>
          </a:xfrm>
          <a:prstGeom prst="rect">
            <a:avLst/>
          </a:prstGeom>
          <a:noFill/>
          <a:ln/>
        </p:spPr>
        <p:txBody>
          <a:bodyPr wrap="square" rtlCol="0" anchor="ctr"/>
          <a:lstStyle/>
          <a:p>
            <a:pPr algn="ctr" indent="0" marL="0">
              <a:lnSpc>
                <a:spcPct val="110000"/>
              </a:lnSpc>
              <a:buNone/>
            </a:pPr>
            <a:r>
              <a:rPr lang="en-US" sz="1100" dirty="0">
                <a:solidFill>
                  <a:srgbClr val="6B7394"/>
                </a:solidFill>
                <a:latin typeface="Calibri" pitchFamily="34" charset="0"/>
                <a:ea typeface="Calibri" pitchFamily="34" charset="-122"/>
                <a:cs typeface="Calibri" pitchFamily="34" charset="-120"/>
              </a:rPr>
              <a:t>Predictive — classifies into the right team queue</a:t>
            </a:r>
            <a:endParaRPr lang="en-US" sz="1100" dirty="0"/>
          </a:p>
        </p:txBody>
      </p:sp>
      <p:sp>
        <p:nvSpPr>
          <p:cNvPr id="16" name="Shape 12"/>
          <p:cNvSpPr/>
          <p:nvPr/>
        </p:nvSpPr>
        <p:spPr>
          <a:xfrm>
            <a:off x="6181344" y="3200400"/>
            <a:ext cx="2606040" cy="2834640"/>
          </a:xfrm>
          <a:prstGeom prst="roundRect">
            <a:avLst>
              <a:gd name="adj" fmla="val 3509"/>
            </a:avLst>
          </a:prstGeom>
          <a:solidFill>
            <a:srgbClr val="FFFFFF"/>
          </a:solidFill>
          <a:ln w="12700">
            <a:solidFill>
              <a:srgbClr val="E5E7EB"/>
            </a:solidFill>
            <a:prstDash val="solid"/>
          </a:ln>
          <a:effectLst>
            <a:outerShdw sx="100000" sy="100000" kx="0" ky="0" algn="bl" rotWithShape="0" blurRad="101600" dist="38100" dir="2700000">
              <a:srgbClr val="000000">
                <a:alpha val="15000"/>
              </a:srgbClr>
            </a:outerShdw>
          </a:effectLst>
        </p:spPr>
      </p:sp>
      <p:sp>
        <p:nvSpPr>
          <p:cNvPr id="17" name="Shape 13"/>
          <p:cNvSpPr/>
          <p:nvPr/>
        </p:nvSpPr>
        <p:spPr>
          <a:xfrm>
            <a:off x="7118604" y="3429000"/>
            <a:ext cx="731520" cy="731520"/>
          </a:xfrm>
          <a:prstGeom prst="ellipse">
            <a:avLst/>
          </a:prstGeom>
          <a:solidFill>
            <a:srgbClr val="1E2761"/>
          </a:solidFill>
          <a:ln/>
        </p:spPr>
      </p:sp>
      <p:pic>
        <p:nvPicPr>
          <p:cNvPr id="18" name="Image 2" descr="icon_chart_white.png">    </p:cNvPr>
          <p:cNvPicPr>
            <a:picLocks noChangeAspect="1"/>
          </p:cNvPicPr>
          <p:nvPr/>
        </p:nvPicPr>
        <p:blipFill>
          <a:blip r:embed="rId3"/>
          <a:stretch>
            <a:fillRect/>
          </a:stretch>
        </p:blipFill>
        <p:spPr>
          <a:xfrm>
            <a:off x="7283196" y="3593592"/>
            <a:ext cx="402336" cy="402336"/>
          </a:xfrm>
          <a:prstGeom prst="rect">
            <a:avLst/>
          </a:prstGeom>
        </p:spPr>
      </p:pic>
      <p:sp>
        <p:nvSpPr>
          <p:cNvPr id="19" name="Text 14"/>
          <p:cNvSpPr/>
          <p:nvPr/>
        </p:nvSpPr>
        <p:spPr>
          <a:xfrm>
            <a:off x="6318504" y="4343400"/>
            <a:ext cx="2331720" cy="457200"/>
          </a:xfrm>
          <a:prstGeom prst="rect">
            <a:avLst/>
          </a:prstGeom>
          <a:noFill/>
          <a:ln/>
        </p:spPr>
        <p:txBody>
          <a:bodyPr wrap="square" rtlCol="0" anchor="ctr"/>
          <a:lstStyle/>
          <a:p>
            <a:pPr algn="ctr" indent="0" marL="0">
              <a:buNone/>
            </a:pPr>
            <a:r>
              <a:rPr lang="en-US" sz="1400" b="1" dirty="0">
                <a:solidFill>
                  <a:srgbClr val="1A1A2E"/>
                </a:solidFill>
                <a:latin typeface="Calibri" pitchFamily="34" charset="0"/>
                <a:ea typeface="Calibri" pitchFamily="34" charset="-122"/>
                <a:cs typeface="Calibri" pitchFamily="34" charset="-120"/>
              </a:rPr>
              <a:t>Predict escalations</a:t>
            </a:r>
            <a:endParaRPr lang="en-US" sz="1400" dirty="0"/>
          </a:p>
        </p:txBody>
      </p:sp>
      <p:sp>
        <p:nvSpPr>
          <p:cNvPr id="20" name="Text 15"/>
          <p:cNvSpPr/>
          <p:nvPr/>
        </p:nvSpPr>
        <p:spPr>
          <a:xfrm>
            <a:off x="6318504" y="4846320"/>
            <a:ext cx="2331720" cy="1005840"/>
          </a:xfrm>
          <a:prstGeom prst="rect">
            <a:avLst/>
          </a:prstGeom>
          <a:noFill/>
          <a:ln/>
        </p:spPr>
        <p:txBody>
          <a:bodyPr wrap="square" rtlCol="0" anchor="ctr"/>
          <a:lstStyle/>
          <a:p>
            <a:pPr algn="ctr" indent="0" marL="0">
              <a:lnSpc>
                <a:spcPct val="110000"/>
              </a:lnSpc>
              <a:buNone/>
            </a:pPr>
            <a:r>
              <a:rPr lang="en-US" sz="1100" dirty="0">
                <a:solidFill>
                  <a:srgbClr val="6B7394"/>
                </a:solidFill>
                <a:latin typeface="Calibri" pitchFamily="34" charset="0"/>
                <a:ea typeface="Calibri" pitchFamily="34" charset="-122"/>
                <a:cs typeface="Calibri" pitchFamily="34" charset="-120"/>
              </a:rPr>
              <a:t>Predictive — scores which tickets will turn ugly</a:t>
            </a:r>
            <a:endParaRPr lang="en-US" sz="1100" dirty="0"/>
          </a:p>
        </p:txBody>
      </p:sp>
      <p:sp>
        <p:nvSpPr>
          <p:cNvPr id="21" name="Shape 16"/>
          <p:cNvSpPr/>
          <p:nvPr/>
        </p:nvSpPr>
        <p:spPr>
          <a:xfrm>
            <a:off x="8951976" y="3200400"/>
            <a:ext cx="2606040" cy="2834640"/>
          </a:xfrm>
          <a:prstGeom prst="roundRect">
            <a:avLst>
              <a:gd name="adj" fmla="val 3509"/>
            </a:avLst>
          </a:prstGeom>
          <a:solidFill>
            <a:srgbClr val="FFFFFF"/>
          </a:solidFill>
          <a:ln w="12700">
            <a:solidFill>
              <a:srgbClr val="E5E7EB"/>
            </a:solidFill>
            <a:prstDash val="solid"/>
          </a:ln>
          <a:effectLst>
            <a:outerShdw sx="100000" sy="100000" kx="0" ky="0" algn="bl" rotWithShape="0" blurRad="101600" dist="38100" dir="2700000">
              <a:srgbClr val="000000">
                <a:alpha val="15000"/>
              </a:srgbClr>
            </a:outerShdw>
          </a:effectLst>
        </p:spPr>
      </p:sp>
      <p:sp>
        <p:nvSpPr>
          <p:cNvPr id="22" name="Shape 17"/>
          <p:cNvSpPr/>
          <p:nvPr/>
        </p:nvSpPr>
        <p:spPr>
          <a:xfrm>
            <a:off x="9889236" y="3429000"/>
            <a:ext cx="731520" cy="731520"/>
          </a:xfrm>
          <a:prstGeom prst="ellipse">
            <a:avLst/>
          </a:prstGeom>
          <a:solidFill>
            <a:srgbClr val="F96167"/>
          </a:solidFill>
          <a:ln/>
        </p:spPr>
      </p:sp>
      <p:pic>
        <p:nvPicPr>
          <p:cNvPr id="23" name="Image 3" descr="icon_pen_white.png">    </p:cNvPr>
          <p:cNvPicPr>
            <a:picLocks noChangeAspect="1"/>
          </p:cNvPicPr>
          <p:nvPr/>
        </p:nvPicPr>
        <p:blipFill>
          <a:blip r:embed="rId4"/>
          <a:stretch>
            <a:fillRect/>
          </a:stretch>
        </p:blipFill>
        <p:spPr>
          <a:xfrm>
            <a:off x="10053828" y="3593592"/>
            <a:ext cx="402336" cy="402336"/>
          </a:xfrm>
          <a:prstGeom prst="rect">
            <a:avLst/>
          </a:prstGeom>
        </p:spPr>
      </p:pic>
      <p:sp>
        <p:nvSpPr>
          <p:cNvPr id="24" name="Text 18"/>
          <p:cNvSpPr/>
          <p:nvPr/>
        </p:nvSpPr>
        <p:spPr>
          <a:xfrm>
            <a:off x="9089136" y="4343400"/>
            <a:ext cx="2331720" cy="457200"/>
          </a:xfrm>
          <a:prstGeom prst="rect">
            <a:avLst/>
          </a:prstGeom>
          <a:noFill/>
          <a:ln/>
        </p:spPr>
        <p:txBody>
          <a:bodyPr wrap="square" rtlCol="0" anchor="ctr"/>
          <a:lstStyle/>
          <a:p>
            <a:pPr algn="ctr" indent="0" marL="0">
              <a:buNone/>
            </a:pPr>
            <a:r>
              <a:rPr lang="en-US" sz="1400" b="1" dirty="0">
                <a:solidFill>
                  <a:srgbClr val="1A1A2E"/>
                </a:solidFill>
                <a:latin typeface="Calibri" pitchFamily="34" charset="0"/>
                <a:ea typeface="Calibri" pitchFamily="34" charset="-122"/>
                <a:cs typeface="Calibri" pitchFamily="34" charset="-120"/>
              </a:rPr>
              <a:t>Summarize threads</a:t>
            </a:r>
            <a:endParaRPr lang="en-US" sz="1400" dirty="0"/>
          </a:p>
        </p:txBody>
      </p:sp>
      <p:sp>
        <p:nvSpPr>
          <p:cNvPr id="25" name="Text 19"/>
          <p:cNvSpPr/>
          <p:nvPr/>
        </p:nvSpPr>
        <p:spPr>
          <a:xfrm>
            <a:off x="9089136" y="4846320"/>
            <a:ext cx="2331720" cy="1005840"/>
          </a:xfrm>
          <a:prstGeom prst="rect">
            <a:avLst/>
          </a:prstGeom>
          <a:noFill/>
          <a:ln/>
        </p:spPr>
        <p:txBody>
          <a:bodyPr wrap="square" rtlCol="0" anchor="ctr"/>
          <a:lstStyle/>
          <a:p>
            <a:pPr algn="ctr" indent="0" marL="0">
              <a:lnSpc>
                <a:spcPct val="110000"/>
              </a:lnSpc>
              <a:buNone/>
            </a:pPr>
            <a:r>
              <a:rPr lang="en-US" sz="1100" dirty="0">
                <a:solidFill>
                  <a:srgbClr val="6B7394"/>
                </a:solidFill>
                <a:latin typeface="Calibri" pitchFamily="34" charset="0"/>
                <a:ea typeface="Calibri" pitchFamily="34" charset="-122"/>
                <a:cs typeface="Calibri" pitchFamily="34" charset="-120"/>
              </a:rPr>
              <a:t>Generative — condenses long history for agents</a:t>
            </a:r>
            <a:endParaRPr lang="en-US" sz="1100" dirty="0"/>
          </a:p>
        </p:txBody>
      </p:sp>
      <p:sp>
        <p:nvSpPr>
          <p:cNvPr id="26" name="Text 20"/>
          <p:cNvSpPr/>
          <p:nvPr/>
        </p:nvSpPr>
        <p:spPr>
          <a:xfrm>
            <a:off x="640080" y="6263640"/>
            <a:ext cx="10881360" cy="457200"/>
          </a:xfrm>
          <a:prstGeom prst="rect">
            <a:avLst/>
          </a:prstGeom>
          <a:noFill/>
          <a:ln/>
        </p:spPr>
        <p:txBody>
          <a:bodyPr wrap="square" rtlCol="0" anchor="ctr"/>
          <a:lstStyle/>
          <a:p>
            <a:pPr indent="0" marL="0">
              <a:buNone/>
            </a:pPr>
            <a:r>
              <a:rPr lang="en-US" sz="1300" b="1" i="1" dirty="0">
                <a:solidFill>
                  <a:srgbClr val="F96167"/>
                </a:solidFill>
                <a:latin typeface="Calibri" pitchFamily="34" charset="0"/>
                <a:ea typeface="Calibri" pitchFamily="34" charset="-122"/>
                <a:cs typeface="Calibri" pitchFamily="34" charset="-120"/>
              </a:rPr>
              <a:t>The highest-leverage question nobody asked: which of these, specifically, are we solving?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3" name="Shape 1"/>
          <p:cNvSpPr/>
          <p:nvPr/>
        </p:nvSpPr>
        <p:spPr>
          <a:xfrm>
            <a:off x="731520" y="1417320"/>
            <a:ext cx="502920" cy="502920"/>
          </a:xfrm>
          <a:prstGeom prst="ellipse">
            <a:avLst/>
          </a:prstGeom>
          <a:solidFill>
            <a:srgbClr val="F96167"/>
          </a:solidFill>
          <a:ln/>
        </p:spPr>
      </p:sp>
      <p:sp>
        <p:nvSpPr>
          <p:cNvPr id="4" name="Text 2"/>
          <p:cNvSpPr/>
          <p:nvPr/>
        </p:nvSpPr>
        <p:spPr>
          <a:xfrm>
            <a:off x="731520" y="141732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508760" y="1371600"/>
            <a:ext cx="9875520" cy="868680"/>
          </a:xfrm>
          <a:prstGeom prst="rect">
            <a:avLst/>
          </a:prstGeom>
          <a:noFill/>
          <a:ln/>
        </p:spPr>
        <p:txBody>
          <a:bodyPr wrap="square" rtlCol="0" anchor="ctr"/>
          <a:lstStyle/>
          <a:p>
            <a:pPr indent="0" marL="0">
              <a:lnSpc>
                <a:spcPct val="110000"/>
              </a:lnSpc>
              <a:buNone/>
            </a:pPr>
            <a:r>
              <a:rPr lang="en-US" sz="1600" dirty="0">
                <a:solidFill>
                  <a:srgbClr val="FFFFFF"/>
                </a:solidFill>
                <a:latin typeface="Calibri" pitchFamily="34" charset="0"/>
                <a:ea typeface="Calibri" pitchFamily="34" charset="-122"/>
                <a:cs typeface="Calibri" pitchFamily="34" charset="-120"/>
              </a:rPr>
              <a:t>Generative AI creates new content; predictive AI classifies or scores existing input.</a:t>
            </a:r>
            <a:endParaRPr lang="en-US" sz="1600" dirty="0"/>
          </a:p>
        </p:txBody>
      </p:sp>
      <p:sp>
        <p:nvSpPr>
          <p:cNvPr id="6" name="Shape 4"/>
          <p:cNvSpPr/>
          <p:nvPr/>
        </p:nvSpPr>
        <p:spPr>
          <a:xfrm>
            <a:off x="731520" y="2560320"/>
            <a:ext cx="502920" cy="502920"/>
          </a:xfrm>
          <a:prstGeom prst="ellipse">
            <a:avLst/>
          </a:prstGeom>
          <a:solidFill>
            <a:srgbClr val="F96167"/>
          </a:solidFill>
          <a:ln/>
        </p:spPr>
      </p:sp>
      <p:sp>
        <p:nvSpPr>
          <p:cNvPr id="7" name="Text 5"/>
          <p:cNvSpPr/>
          <p:nvPr/>
        </p:nvSpPr>
        <p:spPr>
          <a:xfrm>
            <a:off x="731520" y="256032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8" name="Text 6"/>
          <p:cNvSpPr/>
          <p:nvPr/>
        </p:nvSpPr>
        <p:spPr>
          <a:xfrm>
            <a:off x="1508760" y="2514600"/>
            <a:ext cx="9875520" cy="868680"/>
          </a:xfrm>
          <a:prstGeom prst="rect">
            <a:avLst/>
          </a:prstGeom>
          <a:noFill/>
          <a:ln/>
        </p:spPr>
        <p:txBody>
          <a:bodyPr wrap="square" rtlCol="0" anchor="ctr"/>
          <a:lstStyle/>
          <a:p>
            <a:pPr indent="0" marL="0">
              <a:lnSpc>
                <a:spcPct val="110000"/>
              </a:lnSpc>
              <a:buNone/>
            </a:pPr>
            <a:r>
              <a:rPr lang="en-US" sz="1600" dirty="0">
                <a:solidFill>
                  <a:srgbClr val="FFFFFF"/>
                </a:solidFill>
                <a:latin typeface="Calibri" pitchFamily="34" charset="0"/>
                <a:ea typeface="Calibri" pitchFamily="34" charset="-122"/>
                <a:cs typeface="Calibri" pitchFamily="34" charset="-120"/>
              </a:rPr>
              <a:t>LLMs predict the next most plausible piece of text — autocomplete, vastly scaled up.</a:t>
            </a:r>
            <a:endParaRPr lang="en-US" sz="1600" dirty="0"/>
          </a:p>
        </p:txBody>
      </p:sp>
      <p:sp>
        <p:nvSpPr>
          <p:cNvPr id="9" name="Shape 7"/>
          <p:cNvSpPr/>
          <p:nvPr/>
        </p:nvSpPr>
        <p:spPr>
          <a:xfrm>
            <a:off x="731520" y="3703320"/>
            <a:ext cx="502920" cy="502920"/>
          </a:xfrm>
          <a:prstGeom prst="ellipse">
            <a:avLst/>
          </a:prstGeom>
          <a:solidFill>
            <a:srgbClr val="F96167"/>
          </a:solidFill>
          <a:ln/>
        </p:spPr>
      </p:sp>
      <p:sp>
        <p:nvSpPr>
          <p:cNvPr id="10" name="Text 8"/>
          <p:cNvSpPr/>
          <p:nvPr/>
        </p:nvSpPr>
        <p:spPr>
          <a:xfrm>
            <a:off x="731520" y="370332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1" name="Text 9"/>
          <p:cNvSpPr/>
          <p:nvPr/>
        </p:nvSpPr>
        <p:spPr>
          <a:xfrm>
            <a:off x="1508760" y="3657600"/>
            <a:ext cx="9875520" cy="868680"/>
          </a:xfrm>
          <a:prstGeom prst="rect">
            <a:avLst/>
          </a:prstGeom>
          <a:noFill/>
          <a:ln/>
        </p:spPr>
        <p:txBody>
          <a:bodyPr wrap="square" rtlCol="0" anchor="ctr"/>
          <a:lstStyle/>
          <a:p>
            <a:pPr indent="0" marL="0">
              <a:lnSpc>
                <a:spcPct val="110000"/>
              </a:lnSpc>
              <a:buNone/>
            </a:pPr>
            <a:r>
              <a:rPr lang="en-US" sz="1600" dirty="0">
                <a:solidFill>
                  <a:srgbClr val="FFFFFF"/>
                </a:solidFill>
                <a:latin typeface="Calibri" pitchFamily="34" charset="0"/>
                <a:ea typeface="Calibri" pitchFamily="34" charset="-122"/>
                <a:cs typeface="Calibri" pitchFamily="34" charset="-120"/>
              </a:rPr>
              <a:t>Confident-sounding output ≠ correct output. You'll revisit this idea all program long.</a:t>
            </a:r>
            <a:endParaRPr lang="en-US" sz="1600" dirty="0"/>
          </a:p>
        </p:txBody>
      </p:sp>
      <p:sp>
        <p:nvSpPr>
          <p:cNvPr id="12" name="Shape 10"/>
          <p:cNvSpPr/>
          <p:nvPr/>
        </p:nvSpPr>
        <p:spPr>
          <a:xfrm>
            <a:off x="731520" y="4846320"/>
            <a:ext cx="502920" cy="502920"/>
          </a:xfrm>
          <a:prstGeom prst="ellipse">
            <a:avLst/>
          </a:prstGeom>
          <a:solidFill>
            <a:srgbClr val="F96167"/>
          </a:solidFill>
          <a:ln/>
        </p:spPr>
      </p:sp>
      <p:sp>
        <p:nvSpPr>
          <p:cNvPr id="13" name="Text 11"/>
          <p:cNvSpPr/>
          <p:nvPr/>
        </p:nvSpPr>
        <p:spPr>
          <a:xfrm>
            <a:off x="731520" y="4846320"/>
            <a:ext cx="50292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2"/>
          <p:cNvSpPr/>
          <p:nvPr/>
        </p:nvSpPr>
        <p:spPr>
          <a:xfrm>
            <a:off x="1508760" y="4800600"/>
            <a:ext cx="9875520" cy="868680"/>
          </a:xfrm>
          <a:prstGeom prst="rect">
            <a:avLst/>
          </a:prstGeom>
          <a:noFill/>
          <a:ln/>
        </p:spPr>
        <p:txBody>
          <a:bodyPr wrap="square" rtlCol="0" anchor="ctr"/>
          <a:lstStyle/>
          <a:p>
            <a:pPr indent="0" marL="0">
              <a:lnSpc>
                <a:spcPct val="110000"/>
              </a:lnSpc>
              <a:buNone/>
            </a:pPr>
            <a:r>
              <a:rPr lang="en-US" sz="1600" dirty="0">
                <a:solidFill>
                  <a:srgbClr val="FFFFFF"/>
                </a:solidFill>
                <a:latin typeface="Calibri" pitchFamily="34" charset="0"/>
                <a:ea typeface="Calibri" pitchFamily="34" charset="-122"/>
                <a:cs typeface="Calibri" pitchFamily="34" charset="-120"/>
              </a:rPr>
              <a:t>Before building anything, figure out which kind of AI problem you're actually solving.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66360" y="548640"/>
            <a:ext cx="1828800" cy="1828800"/>
          </a:xfrm>
          <a:prstGeom prst="ellipse">
            <a:avLst/>
          </a:prstGeom>
          <a:solidFill>
            <a:srgbClr val="F96167"/>
          </a:solidFill>
          <a:ln/>
          <a:effectLst>
            <a:outerShdw sx="100000" sy="100000" kx="0" ky="0" algn="bl" rotWithShape="0" blurRad="101600" dist="38100" dir="2700000">
              <a:srgbClr val="000000">
                <a:alpha val="15000"/>
              </a:srgbClr>
            </a:outerShdw>
          </a:effectLst>
        </p:spPr>
      </p:sp>
      <p:pic>
        <p:nvPicPr>
          <p:cNvPr id="3" name="Image 0" descr="icon_check_white.png">    </p:cNvPr>
          <p:cNvPicPr>
            <a:picLocks noChangeAspect="1"/>
          </p:cNvPicPr>
          <p:nvPr/>
        </p:nvPicPr>
        <p:blipFill>
          <a:blip r:embed="rId1"/>
          <a:stretch>
            <a:fillRect/>
          </a:stretch>
        </p:blipFill>
        <p:spPr>
          <a:xfrm>
            <a:off x="5715000" y="1097280"/>
            <a:ext cx="777240" cy="777240"/>
          </a:xfrm>
          <a:prstGeom prst="rect">
            <a:avLst/>
          </a:prstGeom>
        </p:spPr>
      </p:pic>
      <p:sp>
        <p:nvSpPr>
          <p:cNvPr id="4" name="Text 1"/>
          <p:cNvSpPr/>
          <p:nvPr/>
        </p:nvSpPr>
        <p:spPr>
          <a:xfrm>
            <a:off x="914400" y="2651760"/>
            <a:ext cx="10332720" cy="640080"/>
          </a:xfrm>
          <a:prstGeom prst="rect">
            <a:avLst/>
          </a:prstGeom>
          <a:noFill/>
          <a:ln/>
        </p:spPr>
        <p:txBody>
          <a:bodyPr wrap="square" rtlCol="0" anchor="ctr"/>
          <a:lstStyle/>
          <a:p>
            <a:pPr algn="ctr" indent="0" marL="0">
              <a:buNone/>
            </a:pPr>
            <a:r>
              <a:rPr lang="en-US" sz="3000" b="1" dirty="0">
                <a:solidFill>
                  <a:srgbClr val="1E2761"/>
                </a:solidFill>
                <a:latin typeface="Cambria" pitchFamily="34" charset="0"/>
                <a:ea typeface="Cambria" pitchFamily="34" charset="-122"/>
                <a:cs typeface="Cambria" pitchFamily="34" charset="-120"/>
              </a:rPr>
              <a:t>Now it's your turn</a:t>
            </a:r>
            <a:endParaRPr lang="en-US" sz="3000" dirty="0"/>
          </a:p>
        </p:txBody>
      </p:sp>
      <p:sp>
        <p:nvSpPr>
          <p:cNvPr id="5" name="Text 2"/>
          <p:cNvSpPr/>
          <p:nvPr/>
        </p:nvSpPr>
        <p:spPr>
          <a:xfrm>
            <a:off x="914400" y="3291840"/>
            <a:ext cx="10332720" cy="457200"/>
          </a:xfrm>
          <a:prstGeom prst="rect">
            <a:avLst/>
          </a:prstGeom>
          <a:noFill/>
          <a:ln/>
        </p:spPr>
        <p:txBody>
          <a:bodyPr wrap="square" rtlCol="0" anchor="ctr"/>
          <a:lstStyle/>
          <a:p>
            <a:pPr algn="ctr" indent="0" marL="0">
              <a:buNone/>
            </a:pPr>
            <a:r>
              <a:rPr lang="en-US" sz="1800" b="1" i="1" dirty="0">
                <a:solidFill>
                  <a:srgbClr val="F96167"/>
                </a:solidFill>
                <a:latin typeface="Calibri" pitchFamily="34" charset="0"/>
                <a:ea typeface="Calibri" pitchFamily="34" charset="-122"/>
                <a:cs typeface="Calibri" pitchFamily="34" charset="-120"/>
              </a:rPr>
              <a:t>Build the AI Capability Map</a:t>
            </a:r>
            <a:endParaRPr lang="en-US" sz="1800" dirty="0"/>
          </a:p>
        </p:txBody>
      </p:sp>
      <p:sp>
        <p:nvSpPr>
          <p:cNvPr id="6" name="Text 3"/>
          <p:cNvSpPr/>
          <p:nvPr/>
        </p:nvSpPr>
        <p:spPr>
          <a:xfrm>
            <a:off x="1828800" y="3931920"/>
            <a:ext cx="8503920" cy="914400"/>
          </a:xfrm>
          <a:prstGeom prst="rect">
            <a:avLst/>
          </a:prstGeom>
          <a:noFill/>
          <a:ln/>
        </p:spPr>
        <p:txBody>
          <a:bodyPr wrap="square" rtlCol="0" anchor="ctr"/>
          <a:lstStyle/>
          <a:p>
            <a:pPr algn="ctr" indent="0" marL="0">
              <a:lnSpc>
                <a:spcPct val="130000"/>
              </a:lnSpc>
              <a:buNone/>
            </a:pPr>
            <a:r>
              <a:rPr lang="en-US" sz="1400" dirty="0">
                <a:solidFill>
                  <a:srgbClr val="1A1A2E"/>
                </a:solidFill>
                <a:latin typeface="Calibri" pitchFamily="34" charset="0"/>
                <a:ea typeface="Calibri" pitchFamily="34" charset="-122"/>
                <a:cs typeface="Calibri" pitchFamily="34" charset="-120"/>
              </a:rPr>
              <a:t>Classify 12 real-world scenarios as predictive or generative, describe the input → output, and name a real tool that does it.</a:t>
            </a:r>
            <a:endParaRPr lang="en-US" sz="1400" dirty="0"/>
          </a:p>
          <a:p>
            <a:pPr algn="ctr" indent="0" marL="0">
              <a:lnSpc>
                <a:spcPct val="130000"/>
              </a:lnSpc>
              <a:buNone/>
            </a:pPr>
            <a:r>
              <a:rPr lang="en-US" sz="1400" dirty="0">
                <a:solidFill>
                  <a:srgbClr val="1A1A2E"/>
                </a:solidFill>
                <a:latin typeface="Calibri" pitchFamily="34" charset="0"/>
                <a:ea typeface="Calibri" pitchFamily="34" charset="-122"/>
                <a:cs typeface="Calibri" pitchFamily="34" charset="-120"/>
              </a:rPr>
              <a:t>Run it with: python capability_map.py</a:t>
            </a:r>
            <a:endParaRPr lang="en-US" sz="1400" dirty="0"/>
          </a:p>
        </p:txBody>
      </p:sp>
      <p:sp>
        <p:nvSpPr>
          <p:cNvPr id="7" name="Shape 4"/>
          <p:cNvSpPr/>
          <p:nvPr/>
        </p:nvSpPr>
        <p:spPr>
          <a:xfrm>
            <a:off x="3200400" y="5029200"/>
            <a:ext cx="5760720" cy="777240"/>
          </a:xfrm>
          <a:prstGeom prst="roundRect">
            <a:avLst>
              <a:gd name="adj" fmla="val 11765"/>
            </a:avLst>
          </a:prstGeom>
          <a:solidFill>
            <a:srgbClr val="CADCFC">
              <a:alpha val="40000"/>
            </a:srgbClr>
          </a:solidFill>
          <a:ln/>
        </p:spPr>
      </p:sp>
      <p:sp>
        <p:nvSpPr>
          <p:cNvPr id="8" name="Text 5"/>
          <p:cNvSpPr/>
          <p:nvPr/>
        </p:nvSpPr>
        <p:spPr>
          <a:xfrm>
            <a:off x="3200400" y="5029200"/>
            <a:ext cx="5760720" cy="777240"/>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Quiz + Session 1.2 next: How LLMs Work, Without the Math Fear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1.1: What GenAI Actually Is (and Isn't)</dc:title>
  <dc:subject>PptxGenJS Presentation</dc:subject>
  <dc:creator>GenAI for Everyone</dc:creator>
  <cp:lastModifiedBy>GenAI for Everyone</cp:lastModifiedBy>
  <cp:revision>1</cp:revision>
  <dcterms:created xsi:type="dcterms:W3CDTF">2026-06-22T13:28:23Z</dcterms:created>
  <dcterms:modified xsi:type="dcterms:W3CDTF">2026-06-22T13:28:23Z</dcterms:modified>
</cp:coreProperties>
</file>