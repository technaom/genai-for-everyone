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4-2.png"/><Relationship Id="rId5" Type="http://schemas.openxmlformats.org/officeDocument/2006/relationships/image" Target="../media/image-4-1.png"/><Relationship Id="rId6" Type="http://schemas.openxmlformats.org/officeDocument/2006/relationships/image" Target="../media/image-4-2.png"/><Relationship Id="rId7" Type="http://schemas.openxmlformats.org/officeDocument/2006/relationships/image" Target="../media/image-4-1.png"/><Relationship Id="rId8" Type="http://schemas.openxmlformats.org/officeDocument/2006/relationships/image" Target="../media/image-4-2.png"/><Relationship Id="rId9" Type="http://schemas.openxmlformats.org/officeDocument/2006/relationships/image" Target="../media/image-4-1.png"/><Relationship Id="rId10" Type="http://schemas.openxmlformats.org/officeDocument/2006/relationships/image" Target="../media/image-4-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114800" cy="41148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389120"/>
            <a:ext cx="2926080" cy="292608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SESSION 2.6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 Lab: Mini Build Day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Customer-Support Reply Generator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deck-build/icons/puzz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" y="4350258"/>
            <a:ext cx="352044" cy="3520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783080" y="42062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/home/claude/deck-build/icons/comment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098" y="4350258"/>
            <a:ext cx="352044" cy="3520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43200" y="42062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2" descr="/home/claude/deck-build/icon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218" y="4350258"/>
            <a:ext cx="352044" cy="35204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703320" y="42062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3" descr="/home/claude/deck-build/icons/filecod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7338" y="4350258"/>
            <a:ext cx="352044" cy="35204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663440" y="42062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4" descr="/home/claude/deck-build/icons/boxe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458" y="4350258"/>
            <a:ext cx="352044" cy="3520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22960" y="4983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techniques. One real system.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2.6 — Week 2 Lab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party tricks, or one system?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this week taught one technique in isolation. Today, none of them stay isolated.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F4FAFA"/>
          </a:solidFill>
          <a:ln/>
          <a:effectLst>
            <a:outerShdw sx="100000" sy="100000" kx="0" ky="0" algn="bl" rotWithShape="0" blurRad="101600" dist="38100" dir="2700000">
              <a:srgbClr val="0A2E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deck-build/icons/puzzl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5618" y="233857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632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— Anatomy of a Prompt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93192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Clarity, context, constraints, format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880360" y="1920240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F4FAFA"/>
          </a:solidFill>
          <a:ln/>
          <a:effectLst>
            <a:outerShdw sx="100000" sy="100000" kx="0" ky="0" algn="bl" rotWithShape="0" blurRad="101600" dist="38100" dir="2700000">
              <a:srgbClr val="0A2E36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deck-build/icons/comment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898" y="233857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17520" y="30632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 — Prompting Techniques I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017520" y="393192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Few-shot, zero-shot, role prompting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120640" y="1920240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F4FAFA"/>
          </a:solidFill>
          <a:ln/>
          <a:effectLst>
            <a:outerShdw sx="100000" sy="100000" kx="0" ky="0" algn="bl" rotWithShape="0" blurRad="101600" dist="38100" dir="2700000">
              <a:srgbClr val="0A2E36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85216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deck-build/icons/brain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178" y="233857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57800" y="30632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 — Prompting Techniques II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257800" y="393192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Chain-of-thought, step-back, self-consistency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360920" y="1920240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F4FAFA"/>
          </a:solidFill>
          <a:ln/>
          <a:effectLst>
            <a:outerShdw sx="100000" sy="100000" kx="0" ky="0" algn="bl" rotWithShape="0" blurRad="101600" dist="38100" dir="2700000">
              <a:srgbClr val="0A2E36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9244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deck-build/icons/filecod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458" y="2338578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30632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 — Structured Outputs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498080" y="393192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mode, schemas, defensive parsing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601200" y="1920240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F4FAFA"/>
          </a:solidFill>
          <a:ln/>
          <a:effectLst>
            <a:outerShdw sx="100000" sy="100000" kx="0" ky="0" algn="bl" rotWithShape="0" blurRad="101600" dist="38100" dir="2700000">
              <a:srgbClr val="0A2E36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33272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/home/claude/deck-build/icons/boxes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6738" y="2338578"/>
            <a:ext cx="352044" cy="3520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38360" y="30632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 — Prompt Systems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738360" y="393192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Templates, variables, versioned libraries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2.6 — Week 2 Lab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deck-build/icons/heads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246" y="733806"/>
            <a:ext cx="452628" cy="452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943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a support inbox that's drowning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0E3A43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8745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2788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D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/ week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06240" y="173736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0E3A43"/>
          </a:solidFill>
          <a:ln/>
        </p:spPr>
      </p:sp>
      <p:sp>
        <p:nvSpPr>
          <p:cNvPr id="9" name="Text 6"/>
          <p:cNvSpPr/>
          <p:nvPr/>
        </p:nvSpPr>
        <p:spPr>
          <a:xfrm>
            <a:off x="4206240" y="18745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4206240" y="2788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D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agents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772400" y="173736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0E3A43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0" y="18745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7772400" y="2788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D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backlog never quite reaches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37947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bare prompt — "Reply to this ticket" — mostly works. Until it doesn't: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4343400"/>
            <a:ext cx="384048" cy="384048"/>
          </a:xfrm>
          <a:prstGeom prst="ellipse">
            <a:avLst/>
          </a:prstGeom>
          <a:solidFill>
            <a:srgbClr val="B23B3B"/>
          </a:solidFill>
          <a:ln/>
        </p:spPr>
      </p:sp>
      <p:pic>
        <p:nvPicPr>
          <p:cNvPr id="16" name="Image 1" descr="/home/claude/deck-build/icons/warn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91" y="4429811"/>
            <a:ext cx="211226" cy="21122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88720" y="42976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frustrated customer gets a chirpy reply that ignores how upset they are.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640080" y="4910328"/>
            <a:ext cx="384048" cy="384048"/>
          </a:xfrm>
          <a:prstGeom prst="ellipse">
            <a:avLst/>
          </a:prstGeom>
          <a:solidFill>
            <a:srgbClr val="B23B3B"/>
          </a:solidFill>
          <a:ln/>
        </p:spPr>
      </p:sp>
      <p:pic>
        <p:nvPicPr>
          <p:cNvPr id="19" name="Image 2" descr="/home/claude/deck-build/icons/warnin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91" y="4996739"/>
            <a:ext cx="211226" cy="21122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486460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billing question gets answered with made-up policy details.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640080" y="5477256"/>
            <a:ext cx="384048" cy="384048"/>
          </a:xfrm>
          <a:prstGeom prst="ellipse">
            <a:avLst/>
          </a:prstGeom>
          <a:solidFill>
            <a:srgbClr val="B23B3B"/>
          </a:solidFill>
          <a:ln/>
        </p:spPr>
      </p:sp>
      <p:pic>
        <p:nvPicPr>
          <p:cNvPr id="22" name="Image 3" descr="/home/claude/deck-build/icons/warnin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91" y="5563667"/>
            <a:ext cx="211226" cy="21122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543153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 report gets a reply that doesn't acknowledge what's actually broken.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2.6 — Week 2 Lab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spec maps directly onto the week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10789920" cy="868680"/>
          </a:xfrm>
          <a:prstGeom prst="roundRect">
            <a:avLst>
              <a:gd name="adj" fmla="val 6316"/>
            </a:avLst>
          </a:prstGeom>
          <a:solidFill>
            <a:srgbClr val="F4FAF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5087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/home/claude/deck-build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837" y="1621917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399032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the customer's actual issue</a:t>
            </a:r>
            <a:endParaRPr lang="en-US" sz="1400" dirty="0"/>
          </a:p>
        </p:txBody>
      </p:sp>
      <p:pic>
        <p:nvPicPr>
          <p:cNvPr id="7" name="Image 1" descr="/home/claude/deck-build/icons/arrow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2763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0" y="1399032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constraints (2.1), reasoning for multi-step cases (2.3)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0080" y="2313432"/>
            <a:ext cx="10789920" cy="868680"/>
          </a:xfrm>
          <a:prstGeom prst="roundRect">
            <a:avLst>
              <a:gd name="adj" fmla="val 6316"/>
            </a:avLst>
          </a:prstGeom>
          <a:solidFill>
            <a:srgbClr val="F4FAFA"/>
          </a:solidFill>
          <a:ln/>
        </p:spPr>
      </p:sp>
      <p:sp>
        <p:nvSpPr>
          <p:cNvPr id="10" name="Shape 6"/>
          <p:cNvSpPr/>
          <p:nvPr/>
        </p:nvSpPr>
        <p:spPr>
          <a:xfrm>
            <a:off x="868680" y="249631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2" descr="/home/claude/deck-build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37" y="2609469"/>
            <a:ext cx="276606" cy="2766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2386584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requested tone consistently</a:t>
            </a:r>
            <a:endParaRPr lang="en-US" sz="1400" dirty="0"/>
          </a:p>
        </p:txBody>
      </p:sp>
      <p:pic>
        <p:nvPicPr>
          <p:cNvPr id="13" name="Image 3" descr="/home/claude/deck-build/icons/arrow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615184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00800" y="2386584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 + role prompting (2.2)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40080" y="3300984"/>
            <a:ext cx="10789920" cy="868680"/>
          </a:xfrm>
          <a:prstGeom prst="roundRect">
            <a:avLst>
              <a:gd name="adj" fmla="val 6316"/>
            </a:avLst>
          </a:prstGeom>
          <a:solidFill>
            <a:srgbClr val="F4FAFA"/>
          </a:solidFill>
          <a:ln/>
        </p:spPr>
      </p:sp>
      <p:sp>
        <p:nvSpPr>
          <p:cNvPr id="16" name="Shape 10"/>
          <p:cNvSpPr/>
          <p:nvPr/>
        </p:nvSpPr>
        <p:spPr>
          <a:xfrm>
            <a:off x="868680" y="3483864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4" descr="/home/claude/deck-build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837" y="3597021"/>
            <a:ext cx="276606" cy="27660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600200" y="3374136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format the ticketing system can consume</a:t>
            </a:r>
            <a:endParaRPr lang="en-US" sz="1400" dirty="0"/>
          </a:p>
        </p:txBody>
      </p:sp>
      <p:pic>
        <p:nvPicPr>
          <p:cNvPr id="19" name="Image 5" descr="/home/claude/deck-build/icons/arrow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602736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400800" y="3374136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mode, schema, defensive parsing (2.4)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640080" y="4288536"/>
            <a:ext cx="10789920" cy="868680"/>
          </a:xfrm>
          <a:prstGeom prst="roundRect">
            <a:avLst>
              <a:gd name="adj" fmla="val 6316"/>
            </a:avLst>
          </a:prstGeom>
          <a:solidFill>
            <a:srgbClr val="F4FAFA"/>
          </a:solidFill>
          <a:ln/>
        </p:spPr>
      </p:sp>
      <p:sp>
        <p:nvSpPr>
          <p:cNvPr id="22" name="Shape 14"/>
          <p:cNvSpPr/>
          <p:nvPr/>
        </p:nvSpPr>
        <p:spPr>
          <a:xfrm>
            <a:off x="868680" y="4471416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3" name="Image 6" descr="/home/claude/deck-build/icons/chec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837" y="4584573"/>
            <a:ext cx="276606" cy="27660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600200" y="436168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invents policy details</a:t>
            </a:r>
            <a:endParaRPr lang="en-US" sz="1400" dirty="0"/>
          </a:p>
        </p:txBody>
      </p:sp>
      <p:pic>
        <p:nvPicPr>
          <p:cNvPr id="25" name="Image 7" descr="/home/claude/deck-build/icons/arrow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9320" y="4590288"/>
            <a:ext cx="274320" cy="27432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400800" y="4361688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constraint in the prompt + spot-check discipline</a:t>
            </a:r>
            <a:endParaRPr lang="en-US" sz="1300" dirty="0"/>
          </a:p>
        </p:txBody>
      </p:sp>
      <p:sp>
        <p:nvSpPr>
          <p:cNvPr id="27" name="Shape 17"/>
          <p:cNvSpPr/>
          <p:nvPr/>
        </p:nvSpPr>
        <p:spPr>
          <a:xfrm>
            <a:off x="640080" y="5276088"/>
            <a:ext cx="10789920" cy="868680"/>
          </a:xfrm>
          <a:prstGeom prst="roundRect">
            <a:avLst>
              <a:gd name="adj" fmla="val 6316"/>
            </a:avLst>
          </a:prstGeom>
          <a:solidFill>
            <a:srgbClr val="F4FAFA"/>
          </a:solidFill>
          <a:ln/>
        </p:spPr>
      </p:sp>
      <p:sp>
        <p:nvSpPr>
          <p:cNvPr id="28" name="Shape 18"/>
          <p:cNvSpPr/>
          <p:nvPr/>
        </p:nvSpPr>
        <p:spPr>
          <a:xfrm>
            <a:off x="868680" y="545896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9" name="Image 8" descr="/home/claude/deck-build/icons/check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837" y="5572125"/>
            <a:ext cx="276606" cy="276606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1600200" y="534924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reusable feature, not a one-off script</a:t>
            </a:r>
            <a:endParaRPr lang="en-US" sz="1400" dirty="0"/>
          </a:p>
        </p:txBody>
      </p:sp>
      <p:pic>
        <p:nvPicPr>
          <p:cNvPr id="31" name="Image 9" descr="/home/claude/deck-build/icons/arrow_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9320" y="5577840"/>
            <a:ext cx="274320" cy="27432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400800" y="53492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Named, versioned template in a library (2.5)</a:t>
            </a:r>
            <a:endParaRPr lang="en-US" sz="1300" dirty="0"/>
          </a:p>
        </p:txBody>
      </p:sp>
      <p:sp>
        <p:nvSpPr>
          <p:cNvPr id="33" name="Text 2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2.6 — Week 2 Lab</a:t>
            </a:r>
            <a:endParaRPr lang="en-US" sz="1000" dirty="0"/>
          </a:p>
        </p:txBody>
      </p:sp>
      <p:sp>
        <p:nvSpPr>
          <p:cNvPr id="34" name="Text 2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deck-build/icons/file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Design the contract before you prompt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interface first — same discipline as designing an API.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5760720" cy="4206240"/>
          </a:xfrm>
          <a:prstGeom prst="roundRect">
            <a:avLst>
              <a:gd name="adj" fmla="val 1739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01600" dist="38100" dir="2700000">
              <a:srgbClr val="0A2E36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1488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SCHEMA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560320"/>
            <a:ext cx="52120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"reply_body": "string",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"tone_applied": "empathetic |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professional | concise",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"high | medium | low",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"escalate": true | false,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"escalation_reason": "string or null"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75120" y="1920240"/>
            <a:ext cx="4846320" cy="4206240"/>
          </a:xfrm>
          <a:prstGeom prst="roundRect">
            <a:avLst>
              <a:gd name="adj" fmla="val 1739"/>
            </a:avLst>
          </a:prstGeom>
          <a:solidFill>
            <a:srgbClr val="F4FAFA"/>
          </a:solidFill>
          <a:ln/>
          <a:effectLst>
            <a:outerShdw sx="100000" sy="100000" kx="0" ky="0" algn="bl" rotWithShape="0" blurRad="101600" dist="38100" dir="2700000">
              <a:srgbClr val="0A2E36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49440" y="21945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deck-build/icons/rout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884" y="23180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240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"escalate" matters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949440" y="2880360"/>
            <a:ext cx="42976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always sounds confident isn't trustworthy. Knowing when NOT to answer — and routing to a human instead — is what separates a toy generator from one a real support team would actually trust.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previews Week 5: evaluation and guardrails.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2.6 — Week 2 Lab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deck-build/icons/comment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2–3 — Template + few-shot pin down tone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alone under-constrains style. Role framing sets WHO the model is; examples anchor WHAT that sounds like.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3502152" cy="4114800"/>
          </a:xfrm>
          <a:prstGeom prst="roundRect">
            <a:avLst>
              <a:gd name="adj" fmla="val 2089"/>
            </a:avLst>
          </a:prstGeom>
          <a:solidFill>
            <a:srgbClr val="F4FAFA"/>
          </a:solidFill>
          <a:ln/>
          <a:effectLst>
            <a:outerShdw sx="100000" sy="100000" kx="0" ky="0" algn="bl" rotWithShape="0" blurRad="101600" dist="38100" dir="2700000">
              <a:srgbClr val="0A2E3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194560"/>
            <a:ext cx="3044952" cy="502920"/>
          </a:xfrm>
          <a:prstGeom prst="roundRect">
            <a:avLst>
              <a:gd name="adj" fmla="val 49091"/>
            </a:avLst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19456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Empathetic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2926080"/>
            <a:ext cx="295351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completely understand the frustration here — being charged twice and not hearing back only makes it worse..."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06824" y="1965960"/>
            <a:ext cx="3502152" cy="4114800"/>
          </a:xfrm>
          <a:prstGeom prst="roundRect">
            <a:avLst>
              <a:gd name="adj" fmla="val 2089"/>
            </a:avLst>
          </a:prstGeom>
          <a:solidFill>
            <a:srgbClr val="F4FAFA"/>
          </a:solidFill>
          <a:ln/>
          <a:effectLst>
            <a:outerShdw sx="100000" sy="100000" kx="0" ky="0" algn="bl" rotWithShape="0" blurRad="101600" dist="38100" dir="2700000">
              <a:srgbClr val="0A2E3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35424" y="2194560"/>
            <a:ext cx="3044952" cy="502920"/>
          </a:xfrm>
          <a:prstGeom prst="roundRect">
            <a:avLst>
              <a:gd name="adj" fmla="val 49091"/>
            </a:avLst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4535424" y="219456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81144" y="2926080"/>
            <a:ext cx="295351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"Thank you for bringing this to our attention. I have reviewed your account and confirmed a duplicate charge..."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973568" y="1965960"/>
            <a:ext cx="3502152" cy="4114800"/>
          </a:xfrm>
          <a:prstGeom prst="roundRect">
            <a:avLst>
              <a:gd name="adj" fmla="val 2089"/>
            </a:avLst>
          </a:prstGeom>
          <a:solidFill>
            <a:srgbClr val="F4FAFA"/>
          </a:solidFill>
          <a:ln/>
          <a:effectLst>
            <a:outerShdw sx="100000" sy="100000" kx="0" ky="0" algn="bl" rotWithShape="0" blurRad="101600" dist="38100" dir="2700000">
              <a:srgbClr val="0A2E36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202168" y="2194560"/>
            <a:ext cx="3044952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8202168" y="219456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47888" y="2926080"/>
            <a:ext cx="295351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"Confirmed duplicate charge. Refund is processing now. You'll get confirmation once it completes."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2.6 — Week 2 Lab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" name="Image 0" descr="/home/claude/deck-build/icons/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Reason privately, answer publicly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0E3A43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6916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417320" y="16916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customer actually want?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60604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0E3A43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6060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417320" y="26060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have enough info, or would I be guessing?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52044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0E3A43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5204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417320" y="35204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involve money, data loss, or a repeat complaint?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reasoning — never shown to the customer</a:t>
            </a:r>
            <a:endParaRPr lang="en-US" sz="1200" dirty="0"/>
          </a:p>
        </p:txBody>
      </p:sp>
      <p:pic>
        <p:nvPicPr>
          <p:cNvPr id="15" name="Image 1" descr="/home/claude/deck-build/icons/arrow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743200"/>
            <a:ext cx="548640" cy="54864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178040" y="1691640"/>
            <a:ext cx="43434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A2E36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406640" y="19202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2" descr="/home/claude/deck-build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797" y="2033397"/>
            <a:ext cx="276606" cy="27660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46720" y="1920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conclusion ships: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406640" y="2606040"/>
            <a:ext cx="38404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"escalate": false,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"confidence": "medium"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...plus a tone-matched reply.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improved the decision — it never has to leave the system.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2.6 — Week 2 Lab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deck-build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— Parse defensively, exactly like 2.4 taught you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1" descr="/home/claude/deck-build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37" y="1713357"/>
            <a:ext cx="276606" cy="2766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55448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wrapper text or code fences the model adds despite instructions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2" descr="/home/claude/deck-build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37" y="2444877"/>
            <a:ext cx="276606" cy="27660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22860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to parse — raise a clear error if it isn't valid JSON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3" descr="/home/claude/deck-build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237" y="3176397"/>
            <a:ext cx="276606" cy="27660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5880" y="301752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every field: right keys, right types, allowed values only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4" descr="/home/claude/deck-build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237" y="3907917"/>
            <a:ext cx="276606" cy="27660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25880" y="374904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fallback: escalate the ticket, don't crash or guess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4FAFA"/>
          </a:solidFill>
          <a:ln/>
        </p:spPr>
      </p:sp>
      <p:sp>
        <p:nvSpPr>
          <p:cNvPr id="18" name="Text 11"/>
          <p:cNvSpPr/>
          <p:nvPr/>
        </p:nvSpPr>
        <p:spPr>
          <a:xfrm>
            <a:off x="914400" y="466344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unglamorous 20% of the build is what makes the other 80% trustworthy. A prompt that works on ten test tickets is a demo. The same prompt with validation and a fallback path is a system you could hand to a real team.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2.6 — Week 2 Lab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/home/claude/deck-build/icons/box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 — This belongs in your template library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10881360" cy="4297680"/>
          </a:xfrm>
          <a:prstGeom prst="roundRect">
            <a:avLst>
              <a:gd name="adj" fmla="val 1702"/>
            </a:avLst>
          </a:prstGeom>
          <a:solidFill>
            <a:srgbClr val="0E3A43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19202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91840" y="192024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support_reply_v1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28346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91840" y="283464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ticket_subject, ticket_body, tone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37490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291840" y="374904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 reply_body, tone_applied, confidence, escalate, escalation_reason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05840" y="46634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91840" y="466344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so improving tone examples next month doesn't silently break what depends on this version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2.6 — Week 2 Lab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sixth technique — a way of combining the first five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handed you one trick that did all of this. You combined five things you already knew, in service of a spec you wrote yourself. Every production GenAI feature starts from the same question: given a real problem, which of my tools does it actually need — and in what order?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F4FAFA"/>
          </a:solidFill>
          <a:ln/>
          <a:effectLst>
            <a:outerShdw sx="100000" sy="100000" kx="0" ky="0" algn="bl" rotWithShape="0" blurRad="101600" dist="38100" dir="2700000">
              <a:srgbClr val="0A2E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31089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deck-build/icons/heads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131" y="324269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week's artifact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3611880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customer-support reply generator with tone control: validated JSON output, tone-consistent replies, internal escalation reasoning, and a versioned home in your prompt library.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194560" y="5074920"/>
            <a:ext cx="7772400" cy="777240"/>
          </a:xfrm>
          <a:prstGeom prst="roundRect">
            <a:avLst>
              <a:gd name="adj" fmla="val 11765"/>
            </a:avLst>
          </a:prstGeom>
          <a:solidFill>
            <a:srgbClr val="028090">
              <a:alpha val="12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2194560" y="50749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Quiz, then Week 3: Working with Data — Embeddings &amp; RAG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2.6 — Week 2 Lab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F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2.6 — Week 2 Lab: Mini Build Day</dc:title>
  <dc:subject>PptxGenJS Presentation</dc:subject>
  <dc:creator>GenAI for Everyone</dc:creator>
  <cp:lastModifiedBy>GenAI for Everyone</cp:lastModifiedBy>
  <cp:revision>1</cp:revision>
  <dcterms:created xsi:type="dcterms:W3CDTF">2026-06-26T14:50:01Z</dcterms:created>
  <dcterms:modified xsi:type="dcterms:W3CDTF">2026-06-26T14:50:01Z</dcterms:modified>
</cp:coreProperties>
</file>