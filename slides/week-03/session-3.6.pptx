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5.png"/><Relationship Id="rId6" Type="http://schemas.openxmlformats.org/officeDocument/2006/relationships/image" Target="../media/image-5-2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68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LAB  ·  MINI BUILD DAY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28016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Campus Student Services Q&amp;A Bot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i="1" dirty="0">
                <a:solidFill>
                  <a:srgbClr val="FB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campus documents that genuinely cross-reference each other — and a retrieval bug hiding in exactly that overlap.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914400" cy="914400"/>
          </a:xfrm>
          <a:prstGeom prst="ellipse">
            <a:avLst/>
          </a:prstGeom>
          <a:solidFill>
            <a:srgbClr val="C45B6E"/>
          </a:solidFill>
          <a:ln/>
        </p:spPr>
      </p:sp>
      <p:pic>
        <p:nvPicPr>
          <p:cNvPr id="6" name="Image 0" descr="icon_clipboar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41605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49377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29000" y="3931920"/>
            <a:ext cx="914400" cy="914400"/>
          </a:xfrm>
          <a:prstGeom prst="ellipse">
            <a:avLst/>
          </a:prstGeom>
          <a:solidFill>
            <a:srgbClr val="C45B6E"/>
          </a:solidFill>
          <a:ln/>
        </p:spPr>
      </p:sp>
      <p:pic>
        <p:nvPicPr>
          <p:cNvPr id="9" name="Image 1" descr="icon_mone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416052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154680" y="49377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035040" y="3931920"/>
            <a:ext cx="914400" cy="914400"/>
          </a:xfrm>
          <a:prstGeom prst="ellipse">
            <a:avLst/>
          </a:prstGeom>
          <a:solidFill>
            <a:srgbClr val="C45B6E"/>
          </a:solidFill>
          <a:ln/>
        </p:spPr>
      </p:sp>
      <p:pic>
        <p:nvPicPr>
          <p:cNvPr id="12" name="Image 2" descr="icon_usergra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16052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760720" y="49377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Standing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8641080" y="3931920"/>
            <a:ext cx="914400" cy="914400"/>
          </a:xfrm>
          <a:prstGeom prst="ellipse">
            <a:avLst/>
          </a:prstGeom>
          <a:solidFill>
            <a:srgbClr val="C45B6E"/>
          </a:solidFill>
          <a:ln/>
        </p:spPr>
      </p:sp>
      <p:pic>
        <p:nvPicPr>
          <p:cNvPr id="15" name="Image 3" descr="icon_be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416052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66760" y="49377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3.6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this week built toward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2011680" cy="2377440"/>
          </a:xfrm>
          <a:prstGeom prst="roundRect">
            <a:avLst>
              <a:gd name="adj" fmla="val 3636"/>
            </a:avLst>
          </a:prstGeom>
          <a:solidFill>
            <a:srgbClr val="FBF3E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600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5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retrieval?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69748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when RAG is the right tool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880360" y="1417320"/>
            <a:ext cx="2011680" cy="2377440"/>
          </a:xfrm>
          <a:prstGeom prst="roundRect">
            <a:avLst>
              <a:gd name="adj" fmla="val 3636"/>
            </a:avLst>
          </a:prstGeom>
          <a:solidFill>
            <a:srgbClr val="FBF3E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17520" y="1600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5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17520" y="21488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017520" y="269748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becomes vectors you can compare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120640" y="1417320"/>
            <a:ext cx="2011680" cy="2377440"/>
          </a:xfrm>
          <a:prstGeom prst="roundRect">
            <a:avLst>
              <a:gd name="adj" fmla="val 3636"/>
            </a:avLst>
          </a:prstGeom>
          <a:solidFill>
            <a:srgbClr val="FBF3E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57800" y="1600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5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257800" y="21488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57800" y="269748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+ search a real document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60920" y="1417320"/>
            <a:ext cx="2011680" cy="2377440"/>
          </a:xfrm>
          <a:prstGeom prst="roundRect">
            <a:avLst>
              <a:gd name="adj" fmla="val 3636"/>
            </a:avLst>
          </a:prstGeom>
          <a:solidFill>
            <a:srgbClr val="FBF3E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98080" y="1600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5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498080" y="21488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0" y="269748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 with citations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01200" y="1417320"/>
            <a:ext cx="2011680" cy="2377440"/>
          </a:xfrm>
          <a:prstGeom prst="roundRect">
            <a:avLst>
              <a:gd name="adj" fmla="val 3636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38360" y="1600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5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738360" y="21488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738360" y="269748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and fix what breaks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416052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4A2545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4400" y="4434840"/>
            <a:ext cx="868680" cy="868680"/>
          </a:xfrm>
          <a:prstGeom prst="ellipse">
            <a:avLst/>
          </a:prstGeom>
          <a:solidFill>
            <a:srgbClr val="E8B339"/>
          </a:solidFill>
          <a:ln/>
        </p:spPr>
      </p:sp>
      <p:pic>
        <p:nvPicPr>
          <p:cNvPr id="25" name="Image 0" descr="icon_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4652010"/>
            <a:ext cx="434340" cy="43434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2011680" y="4297680"/>
            <a:ext cx="9235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(3.6) doesn't introduce a new concept. It puts all five pieces together over four real, overlapping campus documents — and overlap reveals problems a tidy single-document example hides.</a:t>
            </a:r>
            <a:endParaRPr lang="en-US" sz="1550" dirty="0"/>
          </a:p>
        </p:txBody>
      </p:sp>
      <p:sp>
        <p:nvSpPr>
          <p:cNvPr id="27" name="Text 24"/>
          <p:cNvSpPr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for Everyone  |  Week 3  |  Session 3.6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corpus: four campus documents that overlap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12080" cy="1965960"/>
          </a:xfrm>
          <a:prstGeom prst="roundRect">
            <a:avLst>
              <a:gd name="adj" fmla="val 465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91640"/>
            <a:ext cx="777240" cy="777240"/>
          </a:xfrm>
          <a:prstGeom prst="ellipse">
            <a:avLst/>
          </a:prstGeom>
          <a:solidFill>
            <a:srgbClr val="C45B6E"/>
          </a:solidFill>
          <a:ln/>
        </p:spPr>
      </p:sp>
      <p:pic>
        <p:nvPicPr>
          <p:cNvPr id="5" name="Image 0" descr="icon_clipboar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1885950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1691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Guide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874520" y="2286000"/>
            <a:ext cx="3794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Add/drop deadlines, course load limits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417320"/>
            <a:ext cx="5212080" cy="1965960"/>
          </a:xfrm>
          <a:prstGeom prst="roundRect">
            <a:avLst>
              <a:gd name="adj" fmla="val 465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92240" y="1691640"/>
            <a:ext cx="777240" cy="777240"/>
          </a:xfrm>
          <a:prstGeom prst="ellipse">
            <a:avLst/>
          </a:prstGeom>
          <a:solidFill>
            <a:srgbClr val="E8B339"/>
          </a:solidFill>
          <a:ln/>
        </p:spPr>
      </p:sp>
      <p:pic>
        <p:nvPicPr>
          <p:cNvPr id="10" name="Image 1" descr="icon_mone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188595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52360" y="1691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 Handbook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452360" y="2286000"/>
            <a:ext cx="3794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Disbursement timing, refunds, work-study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3657600"/>
            <a:ext cx="5212080" cy="1965960"/>
          </a:xfrm>
          <a:prstGeom prst="roundRect">
            <a:avLst>
              <a:gd name="adj" fmla="val 465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" y="3931920"/>
            <a:ext cx="777240" cy="777240"/>
          </a:xfrm>
          <a:prstGeom prst="ellipse">
            <a:avLst/>
          </a:prstGeom>
          <a:solidFill>
            <a:srgbClr val="4A2545"/>
          </a:solidFill>
          <a:ln/>
        </p:spPr>
      </p:sp>
      <p:pic>
        <p:nvPicPr>
          <p:cNvPr id="15" name="Image 2" descr="icon_usergra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412623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874520" y="39319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Standing Policy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874520" y="4526280"/>
            <a:ext cx="3794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GPA thresholds, probation: max 13 credits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217920" y="3657600"/>
            <a:ext cx="5212080" cy="1965960"/>
          </a:xfrm>
          <a:prstGeom prst="roundRect">
            <a:avLst>
              <a:gd name="adj" fmla="val 465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492240" y="3931920"/>
            <a:ext cx="777240" cy="777240"/>
          </a:xfrm>
          <a:prstGeom prst="ellipse">
            <a:avLst/>
          </a:prstGeom>
          <a:solidFill>
            <a:srgbClr val="7A6B78"/>
          </a:solidFill>
          <a:ln/>
        </p:spPr>
      </p:sp>
      <p:pic>
        <p:nvPicPr>
          <p:cNvPr id="20" name="Image 3" descr="icon_be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412623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39319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Handbook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7452360" y="4526280"/>
            <a:ext cx="3794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Dorm assignment, eligibility tied to enrollment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for Everyone  |  Week 3  |  Session 3.6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documents that cross-reference each other are harder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4480560"/>
          </a:xfrm>
          <a:prstGeom prst="roundRect">
            <a:avLst>
              <a:gd name="adj" fmla="val 204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45920"/>
            <a:ext cx="640080" cy="640080"/>
          </a:xfrm>
          <a:prstGeom prst="ellipse">
            <a:avLst/>
          </a:prstGeom>
          <a:solidFill>
            <a:srgbClr val="7A6B78"/>
          </a:solidFill>
          <a:ln/>
        </p:spPr>
      </p:sp>
      <p:pic>
        <p:nvPicPr>
          <p:cNvPr id="5" name="Image 0" descr="icon_gr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418" y="1789938"/>
            <a:ext cx="352044" cy="3520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3.3 / 3.4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05840" y="2468880"/>
            <a:ext cx="4480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self-contained document.</a:t>
            </a:r>
            <a:endParaRPr lang="en-US" sz="1450" dirty="0"/>
          </a:p>
          <a:p>
            <a:pPr indent="0" marL="0">
              <a:lnSpc>
                <a:spcPct val="140000"/>
              </a:lnSpc>
              <a:buNone/>
            </a:pPr>
            <a:endParaRPr lang="en-US" sz="14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retrieved chunk is at least from “the right place,” by definition. The worst case is an imprecise chunk — not the wrong source entirely.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63640" y="1371600"/>
            <a:ext cx="5212080" cy="4480560"/>
          </a:xfrm>
          <a:prstGeom prst="roundRect">
            <a:avLst>
              <a:gd name="adj" fmla="val 2041"/>
            </a:avLst>
          </a:prstGeom>
          <a:solidFill>
            <a:srgbClr val="4A2545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645920"/>
            <a:ext cx="640080" cy="640080"/>
          </a:xfrm>
          <a:prstGeom prst="ellipse">
            <a:avLst/>
          </a:prstGeom>
          <a:solidFill>
            <a:srgbClr val="E8B339"/>
          </a:solidFill>
          <a:ln/>
        </p:spPr>
      </p:sp>
      <p:pic>
        <p:nvPicPr>
          <p:cNvPr id="10" name="Image 1" descr="icon_diagram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1978" y="1789938"/>
            <a:ext cx="352044" cy="3520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3.6 — today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629400" y="2468880"/>
            <a:ext cx="4480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documents that genuinely cross-reference each other, written by different offices.</a:t>
            </a:r>
            <a:endParaRPr lang="en-US" sz="1450" dirty="0"/>
          </a:p>
          <a:p>
            <a:pPr indent="0" marL="0">
              <a:lnSpc>
                <a:spcPct val="140000"/>
              </a:lnSpc>
              <a:buNone/>
            </a:pPr>
            <a:endParaRPr lang="en-US" sz="14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chunk from the WRONG document can score deceptively well just by mentioning the right topic in passing.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for Everyone  |  Week 3  |  Session 3.6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pipeline, end to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" y="2011680"/>
            <a:ext cx="2377440" cy="2468880"/>
          </a:xfrm>
          <a:prstGeom prst="roundRect">
            <a:avLst>
              <a:gd name="adj" fmla="val 3846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54480" y="2286000"/>
            <a:ext cx="822960" cy="822960"/>
          </a:xfrm>
          <a:prstGeom prst="ellipse">
            <a:avLst/>
          </a:prstGeom>
          <a:solidFill>
            <a:srgbClr val="4A2545"/>
          </a:solidFill>
          <a:ln/>
        </p:spPr>
      </p:sp>
      <p:pic>
        <p:nvPicPr>
          <p:cNvPr id="5" name="Image 0" descr="icon_gr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0220" y="24917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291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+ chunk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8680" y="379476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PDFs → tagged chunks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200400" y="3017520"/>
            <a:ext cx="411480" cy="411480"/>
          </a:xfrm>
          <a:prstGeom prst="ellipse">
            <a:avLst/>
          </a:prstGeom>
          <a:solidFill>
            <a:srgbClr val="C45B6E"/>
          </a:solidFill>
          <a:ln/>
        </p:spPr>
      </p:sp>
      <p:pic>
        <p:nvPicPr>
          <p:cNvPr id="9" name="Image 1" descr="icon_arrow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2983" y="3110103"/>
            <a:ext cx="226314" cy="22631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657600" y="2011680"/>
            <a:ext cx="2377440" cy="2468880"/>
          </a:xfrm>
          <a:prstGeom prst="roundRect">
            <a:avLst>
              <a:gd name="adj" fmla="val 3846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34840" y="2286000"/>
            <a:ext cx="822960" cy="822960"/>
          </a:xfrm>
          <a:prstGeom prst="ellipse">
            <a:avLst/>
          </a:prstGeom>
          <a:solidFill>
            <a:srgbClr val="C45B6E"/>
          </a:solidFill>
          <a:ln/>
        </p:spPr>
      </p:sp>
      <p:pic>
        <p:nvPicPr>
          <p:cNvPr id="12" name="Image 2" descr="icon_search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0580" y="249174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749040" y="3291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749040" y="379476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search, top-k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080760" y="3017520"/>
            <a:ext cx="411480" cy="411480"/>
          </a:xfrm>
          <a:prstGeom prst="ellipse">
            <a:avLst/>
          </a:prstGeom>
          <a:solidFill>
            <a:srgbClr val="C45B6E"/>
          </a:solidFill>
          <a:ln/>
        </p:spPr>
      </p:sp>
      <p:pic>
        <p:nvPicPr>
          <p:cNvPr id="16" name="Image 3" descr="icon_arrow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343" y="3110103"/>
            <a:ext cx="226314" cy="226314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537960" y="2011680"/>
            <a:ext cx="2377440" cy="2468880"/>
          </a:xfrm>
          <a:prstGeom prst="roundRect">
            <a:avLst>
              <a:gd name="adj" fmla="val 3846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7315200" y="2286000"/>
            <a:ext cx="822960" cy="822960"/>
          </a:xfrm>
          <a:prstGeom prst="ellipse">
            <a:avLst/>
          </a:prstGeom>
          <a:solidFill>
            <a:srgbClr val="E8B339"/>
          </a:solidFill>
          <a:ln/>
        </p:spPr>
      </p:sp>
      <p:pic>
        <p:nvPicPr>
          <p:cNvPr id="19" name="Image 4" descr="icon_tags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0940" y="2491740"/>
            <a:ext cx="411480" cy="41148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629400" y="3291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+ tag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6629400" y="379476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Numbered, source-labeled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8961120" y="3017520"/>
            <a:ext cx="411480" cy="411480"/>
          </a:xfrm>
          <a:prstGeom prst="ellipse">
            <a:avLst/>
          </a:prstGeom>
          <a:solidFill>
            <a:srgbClr val="C45B6E"/>
          </a:solidFill>
          <a:ln/>
        </p:spPr>
      </p:sp>
      <p:pic>
        <p:nvPicPr>
          <p:cNvPr id="23" name="Image 5" descr="icon_arrow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703" y="3110103"/>
            <a:ext cx="226314" cy="22631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9418320" y="2011680"/>
            <a:ext cx="2377440" cy="2468880"/>
          </a:xfrm>
          <a:prstGeom prst="roundRect">
            <a:avLst>
              <a:gd name="adj" fmla="val 3846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10195560" y="2286000"/>
            <a:ext cx="822960" cy="822960"/>
          </a:xfrm>
          <a:prstGeom prst="ellipse">
            <a:avLst/>
          </a:prstGeom>
          <a:solidFill>
            <a:srgbClr val="7A6B78"/>
          </a:solidFill>
          <a:ln/>
        </p:spPr>
      </p:sp>
      <p:pic>
        <p:nvPicPr>
          <p:cNvPr id="26" name="Image 6" descr="icon_usergrad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1300" y="2491740"/>
            <a:ext cx="411480" cy="41148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9509760" y="3291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500" dirty="0"/>
          </a:p>
        </p:txBody>
      </p:sp>
      <p:sp>
        <p:nvSpPr>
          <p:cNvPr id="28" name="Text 19"/>
          <p:cNvSpPr/>
          <p:nvPr/>
        </p:nvSpPr>
        <p:spPr>
          <a:xfrm>
            <a:off x="9509760" y="379476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cited answer</a:t>
            </a:r>
            <a:endParaRPr lang="en-US" sz="1150" dirty="0"/>
          </a:p>
        </p:txBody>
      </p:sp>
      <p:sp>
        <p:nvSpPr>
          <p:cNvPr id="29" name="Text 20"/>
          <p:cNvSpPr/>
          <p:nvPr/>
        </p:nvSpPr>
        <p:spPr>
          <a:xfrm>
            <a:off x="777240" y="4937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box above is a function you wrote earlier this week — today just wires them together over four overlapping documents.</a:t>
            </a:r>
            <a:endParaRPr lang="en-US" sz="1400" dirty="0"/>
          </a:p>
        </p:txBody>
      </p:sp>
      <p:sp>
        <p:nvSpPr>
          <p:cNvPr id="30" name="Text 21"/>
          <p:cNvSpPr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for Everyone  |  Week 3  |  Session 3.6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A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777240" cy="777240"/>
          </a:xfrm>
          <a:prstGeom prst="ellipse">
            <a:avLst/>
          </a:prstGeom>
          <a:solidFill>
            <a:srgbClr val="C45B6E"/>
          </a:solidFill>
          <a:ln/>
        </p:spPr>
      </p:sp>
      <p:pic>
        <p:nvPicPr>
          <p:cNvPr id="3" name="Image 0" descr="icon_warnin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839" y="723519"/>
            <a:ext cx="427482" cy="4274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54864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real bugs, found by actually running the code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6" name="Text 3"/>
          <p:cNvSpPr/>
          <p:nvPr/>
        </p:nvSpPr>
        <p:spPr>
          <a:xfrm>
            <a:off x="1097280" y="15087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is the maximum course load for a student on probation?”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229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source: Academic Standing Policy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035040" y="23774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retrieved: Registration Guide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22960" y="384048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1097280" y="384048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happens if I drop below full-time enrollment in a dorm?”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22960" y="4709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source: Housing Handbook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035040" y="47091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retrieved: Registration Guide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for Everyone  |  Week 3  |  Session 3.6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Diagnosis: one merged chunk, two wrong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48640" cy="548640"/>
          </a:xfrm>
          <a:prstGeom prst="ellipse">
            <a:avLst/>
          </a:prstGeom>
          <a:solidFill>
            <a:srgbClr val="C45B6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1371600"/>
            <a:ext cx="9692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text loses blank lines, again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783080"/>
            <a:ext cx="9692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pypdf's extract_text() doesn't preserve the blank lines between this document's five sections. The blank-line chunker finds ONE paragraph for the whole Registration Guide.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548640" cy="548640"/>
          </a:xfrm>
          <a:prstGeom prst="ellipse">
            <a:avLst/>
          </a:prstGeom>
          <a:solidFill>
            <a:srgbClr val="C45B6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926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17320" y="2880360"/>
            <a:ext cx="9692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merged chunk, full of cross-references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3291840"/>
            <a:ext cx="9692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sections collapse into one chunk that mentions “course load,” “full-time,” financial aid, and the Academic Standing Policy by name — in passing, not as the actual answer.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434840"/>
            <a:ext cx="548640" cy="548640"/>
          </a:xfrm>
          <a:prstGeom prst="ellipse">
            <a:avLst/>
          </a:prstGeom>
          <a:solidFill>
            <a:srgbClr val="C45B6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434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17320" y="4389120"/>
            <a:ext cx="9692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cross-referencing language wins by accident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4800600"/>
            <a:ext cx="9692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failing queries share vocabulary with this merged chunk's passing mentions, so it scores deceptively well against questions it can't actually answer.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for Everyone  |  Week 3  |  Session 3.6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this time: split on ALL-CAPS headers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27632"/>
            <a:ext cx="822960" cy="822960"/>
          </a:xfrm>
          <a:prstGeom prst="ellipse">
            <a:avLst/>
          </a:prstGeom>
          <a:solidFill>
            <a:srgbClr val="E8B339"/>
          </a:solidFill>
          <a:ln/>
        </p:spPr>
      </p:sp>
      <p:pic>
        <p:nvPicPr>
          <p:cNvPr id="5" name="Image 0" descr="icon_cu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566" y="1812798"/>
            <a:ext cx="452628" cy="4526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1463040"/>
            <a:ext cx="9052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corpus's headers aren't numbered — they're written in ALL CAPS on their own line (“COURSE LOAD REQUIREMENTS,” “ACADEMIC PROBATION”). Split on THAT pattern instead, since it's what actually survives PDF extraction here.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40080" y="30632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14400" y="3291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(blank-line chunking)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38404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registration_guide.pdf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4434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retrieved document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14400" y="4892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0.268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663440" y="4846320"/>
            <a:ext cx="594360" cy="594360"/>
          </a:xfrm>
          <a:prstGeom prst="ellipse">
            <a:avLst/>
          </a:prstGeom>
          <a:solidFill>
            <a:srgbClr val="C45B6E"/>
          </a:solidFill>
          <a:ln/>
        </p:spPr>
      </p:sp>
      <p:pic>
        <p:nvPicPr>
          <p:cNvPr id="13" name="Image 1" descr="icon_warning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7171" y="4980051"/>
            <a:ext cx="326898" cy="32689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080760" y="30632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4A2545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6355080" y="3291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(caps-header chunking)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355080" y="38404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academic_standing_policy.pdf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355080" y="4434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B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retrieved document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6355080" y="4892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0.438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10104120" y="4846320"/>
            <a:ext cx="594360" cy="594360"/>
          </a:xfrm>
          <a:prstGeom prst="ellipse">
            <a:avLst/>
          </a:prstGeom>
          <a:solidFill>
            <a:srgbClr val="E8B339"/>
          </a:solidFill>
          <a:ln/>
        </p:spPr>
      </p:sp>
      <p:pic>
        <p:nvPicPr>
          <p:cNvPr id="20" name="Image 2" descr="icon_chec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7851" y="4980051"/>
            <a:ext cx="326898" cy="32689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for Everyone  |  Week 3  |  Session 3.6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transferable lesson is a principle, not a regex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fix: numbered headers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7F1F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“1. Eligibility”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“2. Remote Work Days”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split on \n\d+\.\s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355080" y="1371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corpus: ALL-CAPS headers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178308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4A2545"/>
          </a:solidFill>
          <a:ln/>
        </p:spPr>
      </p:sp>
      <p:sp>
        <p:nvSpPr>
          <p:cNvPr id="8" name="Text 6"/>
          <p:cNvSpPr/>
          <p:nvPr/>
        </p:nvSpPr>
        <p:spPr>
          <a:xfrm>
            <a:off x="6629400" y="178308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“COURSE LOAD REQUIREMENTS”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“ACADEMIC PROBATION”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split on \n[A-Z][A-Z /]+\n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38328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1F4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657600"/>
            <a:ext cx="777240" cy="777240"/>
          </a:xfrm>
          <a:prstGeom prst="ellipse">
            <a:avLst/>
          </a:prstGeom>
          <a:solidFill>
            <a:srgbClr val="C45B6E"/>
          </a:solidFill>
          <a:ln/>
        </p:spPr>
      </p:sp>
      <p:pic>
        <p:nvPicPr>
          <p:cNvPr id="11" name="Image 0" descr="icon_diagram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279" y="3832479"/>
            <a:ext cx="427482" cy="42748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920240" y="3520440"/>
            <a:ext cx="9052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code, same underlying principle: inspect how YOUR real documents are actually structured after extraction, find a pattern that reliably survives, and verify the fix by running it — don't assume a fix that worked on a previous document set will transfer automatically to a new one.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for Everyone  |  Week 3  |  Session 3.6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3, done. What you can now actually build.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C45B6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1307592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Multi-document retrieval can confidently return the wrong source — harder to spot than an imprecise chunk from the right one.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502920" cy="502920"/>
          </a:xfrm>
          <a:prstGeom prst="ellipse">
            <a:avLst/>
          </a:prstGeom>
          <a:solidFill>
            <a:srgbClr val="C45B6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universal chunking fix, only a universal principle: match your strategy to how your real documents are structured.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C45B6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71600" y="3410712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Source-document labels on citations turn a silent wrong-document failure into something visible at a glance.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4983480"/>
            <a:ext cx="868680" cy="868680"/>
          </a:xfrm>
          <a:prstGeom prst="ellipse">
            <a:avLst/>
          </a:prstGeom>
          <a:solidFill>
            <a:srgbClr val="E8B339"/>
          </a:solidFill>
          <a:ln/>
        </p:spPr>
      </p:sp>
      <p:pic>
        <p:nvPicPr>
          <p:cNvPr id="14" name="Image 0" descr="icon_diagram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5200650"/>
            <a:ext cx="434340" cy="43434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011680" y="484632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Week 4 — Tool Use, Agents &amp; Automation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2011680" y="5321808"/>
            <a:ext cx="8869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spent this week teaching a model to find and use the right information, even scattered across documents that don't agree on formatting. Next week, you'll teach it to take actions based on what it finds.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for Everyone  |  Week 3  |  Session 3.6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3.6 - Week 3 Lab: Campus Student Services Q&amp;A Bot</dc:title>
  <dc:subject>PptxGenJS Presentation</dc:subject>
  <dc:creator>GenAI for Everyone</dc:creator>
  <cp:lastModifiedBy>GenAI for Everyone</cp:lastModifiedBy>
  <cp:revision>1</cp:revision>
  <dcterms:created xsi:type="dcterms:W3CDTF">2026-06-28T06:10:25Z</dcterms:created>
  <dcterms:modified xsi:type="dcterms:W3CDTF">2026-06-28T06:10:25Z</dcterms:modified>
</cp:coreProperties>
</file>